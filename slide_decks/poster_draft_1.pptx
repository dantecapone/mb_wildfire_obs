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3" r:id="rId1"/>
  </p:sldMasterIdLst>
  <p:sldIdLst>
    <p:sldId id="256" r:id="rId2"/>
  </p:sldIdLst>
  <p:sldSz cx="43891200" cy="32918400"/>
  <p:notesSz cx="6881813"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7F7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6008" autoAdjust="0"/>
    <p:restoredTop sz="94676" autoAdjust="0"/>
  </p:normalViewPr>
  <p:slideViewPr>
    <p:cSldViewPr>
      <p:cViewPr varScale="1">
        <p:scale>
          <a:sx n="26" d="100"/>
          <a:sy n="26" d="100"/>
        </p:scale>
        <p:origin x="2165" y="96"/>
      </p:cViewPr>
      <p:guideLst>
        <p:guide orient="horz" pos="10368"/>
        <p:guide pos="13824"/>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95095203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5AA2320-7051-4086-BE30-05F3CED99B81}"/>
              </a:ext>
            </a:extLst>
          </p:cNvPr>
          <p:cNvSpPr>
            <a:spLocks noGrp="1"/>
          </p:cNvSpPr>
          <p:nvPr>
            <p:ph type="title"/>
          </p:nvPr>
        </p:nvSpPr>
        <p:spPr>
          <a:xfrm>
            <a:off x="3017520" y="1752603"/>
            <a:ext cx="37856160" cy="636270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CCB6650-51D1-4FB7-8D77-2EAACEEADF8A}"/>
              </a:ext>
            </a:extLst>
          </p:cNvPr>
          <p:cNvSpPr>
            <a:spLocks noGrp="1"/>
          </p:cNvSpPr>
          <p:nvPr>
            <p:ph type="body" idx="1"/>
          </p:nvPr>
        </p:nvSpPr>
        <p:spPr>
          <a:xfrm>
            <a:off x="3017520" y="8763000"/>
            <a:ext cx="37856160" cy="2088642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90E7C8-7FF9-4C9C-8025-3CCF1F580193}"/>
              </a:ext>
            </a:extLst>
          </p:cNvPr>
          <p:cNvSpPr>
            <a:spLocks noGrp="1"/>
          </p:cNvSpPr>
          <p:nvPr>
            <p:ph type="dt" sz="half" idx="2"/>
          </p:nvPr>
        </p:nvSpPr>
        <p:spPr>
          <a:xfrm>
            <a:off x="3017520" y="30510482"/>
            <a:ext cx="9875520" cy="1752600"/>
          </a:xfrm>
          <a:prstGeom prst="rect">
            <a:avLst/>
          </a:prstGeom>
        </p:spPr>
        <p:txBody>
          <a:bodyPr vert="horz" lIns="91440" tIns="45720" rIns="91440" bIns="45720" rtlCol="0" anchor="ctr"/>
          <a:lstStyle>
            <a:lvl1pPr algn="l">
              <a:defRPr sz="4320">
                <a:solidFill>
                  <a:schemeClr val="tx1">
                    <a:tint val="75000"/>
                  </a:schemeClr>
                </a:solidFill>
              </a:defRPr>
            </a:lvl1pPr>
          </a:lstStyle>
          <a:p>
            <a:fld id="{985D6BDF-9D0E-4E2B-85B8-D8F4790360C9}" type="datetimeFigureOut">
              <a:rPr lang="en-US" smtClean="0"/>
              <a:t>5/2/2024</a:t>
            </a:fld>
            <a:endParaRPr lang="en-US" dirty="0"/>
          </a:p>
        </p:txBody>
      </p:sp>
      <p:sp>
        <p:nvSpPr>
          <p:cNvPr id="5" name="Footer Placeholder 4">
            <a:extLst>
              <a:ext uri="{FF2B5EF4-FFF2-40B4-BE49-F238E27FC236}">
                <a16:creationId xmlns:a16="http://schemas.microsoft.com/office/drawing/2014/main" id="{FAC26B8D-9A00-4784-BBA0-627D012CA801}"/>
              </a:ext>
            </a:extLst>
          </p:cNvPr>
          <p:cNvSpPr>
            <a:spLocks noGrp="1"/>
          </p:cNvSpPr>
          <p:nvPr>
            <p:ph type="ftr" sz="quarter" idx="3"/>
          </p:nvPr>
        </p:nvSpPr>
        <p:spPr>
          <a:xfrm>
            <a:off x="14538960" y="30510482"/>
            <a:ext cx="14813280" cy="1752600"/>
          </a:xfrm>
          <a:prstGeom prst="rect">
            <a:avLst/>
          </a:prstGeom>
        </p:spPr>
        <p:txBody>
          <a:bodyPr vert="horz" lIns="91440" tIns="45720" rIns="91440" bIns="45720" rtlCol="0" anchor="ctr"/>
          <a:lstStyle>
            <a:lvl1pPr algn="ctr">
              <a:defRPr sz="432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A6772DF0-F4C0-44E8-9F72-FFC4534F3346}"/>
              </a:ext>
            </a:extLst>
          </p:cNvPr>
          <p:cNvSpPr>
            <a:spLocks noGrp="1"/>
          </p:cNvSpPr>
          <p:nvPr>
            <p:ph type="sldNum" sz="quarter" idx="4"/>
          </p:nvPr>
        </p:nvSpPr>
        <p:spPr>
          <a:xfrm>
            <a:off x="30998160" y="30510482"/>
            <a:ext cx="9875520" cy="1752600"/>
          </a:xfrm>
          <a:prstGeom prst="rect">
            <a:avLst/>
          </a:prstGeom>
        </p:spPr>
        <p:txBody>
          <a:bodyPr vert="horz" lIns="91440" tIns="45720" rIns="91440" bIns="45720" rtlCol="0" anchor="ctr"/>
          <a:lstStyle>
            <a:lvl1pPr algn="r">
              <a:defRPr sz="4320">
                <a:solidFill>
                  <a:schemeClr val="tx1">
                    <a:tint val="75000"/>
                  </a:schemeClr>
                </a:solidFill>
              </a:defRPr>
            </a:lvl1pPr>
          </a:lstStyle>
          <a:p>
            <a:fld id="{FBB075EA-769C-4ECD-B48E-D6FCDC24F876}" type="slidenum">
              <a:rPr lang="en-US" smtClean="0"/>
              <a:t>‹#›</a:t>
            </a:fld>
            <a:endParaRPr lang="en-US" dirty="0"/>
          </a:p>
        </p:txBody>
      </p:sp>
      <p:sp>
        <p:nvSpPr>
          <p:cNvPr id="7" name="Rectangle 6">
            <a:extLst>
              <a:ext uri="{FF2B5EF4-FFF2-40B4-BE49-F238E27FC236}">
                <a16:creationId xmlns:a16="http://schemas.microsoft.com/office/drawing/2014/main" id="{1A6B75E9-20AF-4508-B0B1-37EB62C7573F}"/>
              </a:ext>
            </a:extLst>
          </p:cNvPr>
          <p:cNvSpPr/>
          <p:nvPr userDrawn="1"/>
        </p:nvSpPr>
        <p:spPr>
          <a:xfrm>
            <a:off x="43159680" y="0"/>
            <a:ext cx="731520" cy="329184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endParaRPr lang="en-US" dirty="0"/>
          </a:p>
        </p:txBody>
      </p:sp>
      <p:sp>
        <p:nvSpPr>
          <p:cNvPr id="8" name="Rectangle 7">
            <a:extLst>
              <a:ext uri="{FF2B5EF4-FFF2-40B4-BE49-F238E27FC236}">
                <a16:creationId xmlns:a16="http://schemas.microsoft.com/office/drawing/2014/main" id="{1908E2B7-FD7C-4917-9116-BC481670380D}"/>
              </a:ext>
            </a:extLst>
          </p:cNvPr>
          <p:cNvSpPr/>
          <p:nvPr userDrawn="1"/>
        </p:nvSpPr>
        <p:spPr>
          <a:xfrm>
            <a:off x="-3" y="0"/>
            <a:ext cx="731520" cy="32918400"/>
          </a:xfrm>
          <a:prstGeom prst="rect">
            <a:avLst/>
          </a:pr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endParaRPr lang="en-US" dirty="0"/>
          </a:p>
        </p:txBody>
      </p:sp>
      <p:sp>
        <p:nvSpPr>
          <p:cNvPr id="9" name="Rectangle 8">
            <a:extLst>
              <a:ext uri="{FF2B5EF4-FFF2-40B4-BE49-F238E27FC236}">
                <a16:creationId xmlns:a16="http://schemas.microsoft.com/office/drawing/2014/main" id="{4E459857-EC20-4725-9729-C46C2B82E67B}"/>
              </a:ext>
            </a:extLst>
          </p:cNvPr>
          <p:cNvSpPr/>
          <p:nvPr userDrawn="1"/>
        </p:nvSpPr>
        <p:spPr>
          <a:xfrm>
            <a:off x="0" y="0"/>
            <a:ext cx="43891200" cy="4114800"/>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endParaRPr lang="en-US" dirty="0"/>
          </a:p>
        </p:txBody>
      </p:sp>
      <p:sp>
        <p:nvSpPr>
          <p:cNvPr id="10" name="Rectangle 9">
            <a:extLst>
              <a:ext uri="{FF2B5EF4-FFF2-40B4-BE49-F238E27FC236}">
                <a16:creationId xmlns:a16="http://schemas.microsoft.com/office/drawing/2014/main" id="{53D01061-EB55-4BDA-9715-6B258A79D235}"/>
              </a:ext>
            </a:extLst>
          </p:cNvPr>
          <p:cNvSpPr/>
          <p:nvPr userDrawn="1"/>
        </p:nvSpPr>
        <p:spPr>
          <a:xfrm>
            <a:off x="0" y="28803600"/>
            <a:ext cx="43891200" cy="41148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endParaRPr lang="en-US" dirty="0"/>
          </a:p>
        </p:txBody>
      </p:sp>
      <p:sp>
        <p:nvSpPr>
          <p:cNvPr id="11" name="Instructions">
            <a:extLst>
              <a:ext uri="{FF2B5EF4-FFF2-40B4-BE49-F238E27FC236}">
                <a16:creationId xmlns:a16="http://schemas.microsoft.com/office/drawing/2014/main" id="{2635A212-2F14-4E54-B188-2E68FF297809}"/>
              </a:ext>
            </a:extLst>
          </p:cNvPr>
          <p:cNvSpPr/>
          <p:nvPr userDrawn="1"/>
        </p:nvSpPr>
        <p:spPr>
          <a:xfrm>
            <a:off x="-10515600" y="0"/>
            <a:ext cx="9601200" cy="329184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71421" tIns="171421" rIns="171421" bIns="171421"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1800"/>
              </a:spcAft>
            </a:pPr>
            <a:r>
              <a:rPr lang="en-US" sz="7200" dirty="0">
                <a:solidFill>
                  <a:srgbClr val="7F7F7F"/>
                </a:solidFill>
                <a:latin typeface="Calibri" pitchFamily="34" charset="0"/>
                <a:cs typeface="Calibri" panose="020F0502020204030204" pitchFamily="34" charset="0"/>
              </a:rPr>
              <a:t>Poster Print Size:</a:t>
            </a:r>
            <a:endParaRPr sz="7200" dirty="0">
              <a:solidFill>
                <a:srgbClr val="7F7F7F"/>
              </a:solidFill>
              <a:latin typeface="Calibri" pitchFamily="34" charset="0"/>
              <a:cs typeface="Calibri" panose="020F0502020204030204" pitchFamily="34" charset="0"/>
            </a:endParaRPr>
          </a:p>
          <a:p>
            <a:pPr lvl="0">
              <a:spcBef>
                <a:spcPts val="0"/>
              </a:spcBef>
              <a:spcAft>
                <a:spcPts val="1800"/>
              </a:spcAft>
            </a:pPr>
            <a:r>
              <a:rPr lang="en-US" sz="4900" dirty="0">
                <a:solidFill>
                  <a:srgbClr val="7F7F7F"/>
                </a:solidFill>
                <a:latin typeface="Calibri" pitchFamily="34" charset="0"/>
                <a:cs typeface="Calibri" panose="020F0502020204030204" pitchFamily="34" charset="0"/>
              </a:rPr>
              <a:t>This poster template is 36” high by 48” wide. It can be used to print any poster with a 3:4 aspect ratio.</a:t>
            </a:r>
          </a:p>
          <a:p>
            <a:pPr lvl="0">
              <a:spcBef>
                <a:spcPts val="0"/>
              </a:spcBef>
              <a:spcAft>
                <a:spcPts val="1800"/>
              </a:spcAft>
            </a:pPr>
            <a:r>
              <a:rPr lang="en-US" sz="7200" dirty="0">
                <a:solidFill>
                  <a:srgbClr val="7F7F7F"/>
                </a:solidFill>
                <a:latin typeface="Calibri" pitchFamily="34" charset="0"/>
                <a:cs typeface="Calibri" panose="020F0502020204030204" pitchFamily="34" charset="0"/>
              </a:rPr>
              <a:t>Placeholders</a:t>
            </a:r>
            <a:r>
              <a:rPr sz="7200" dirty="0">
                <a:solidFill>
                  <a:srgbClr val="7F7F7F"/>
                </a:solidFill>
                <a:latin typeface="Calibri" pitchFamily="34" charset="0"/>
                <a:cs typeface="Calibri" panose="020F0502020204030204" pitchFamily="34" charset="0"/>
              </a:rPr>
              <a:t>:</a:t>
            </a:r>
          </a:p>
          <a:p>
            <a:pPr lvl="0">
              <a:spcBef>
                <a:spcPts val="0"/>
              </a:spcBef>
              <a:spcAft>
                <a:spcPts val="1800"/>
              </a:spcAft>
            </a:pPr>
            <a:r>
              <a:rPr sz="4900" dirty="0">
                <a:solidFill>
                  <a:srgbClr val="7F7F7F"/>
                </a:solidFill>
                <a:latin typeface="Calibri" pitchFamily="34" charset="0"/>
                <a:cs typeface="Calibri" panose="020F0502020204030204" pitchFamily="34" charset="0"/>
              </a:rPr>
              <a:t>The </a:t>
            </a:r>
            <a:r>
              <a:rPr lang="en-US" sz="4900" dirty="0">
                <a:solidFill>
                  <a:srgbClr val="7F7F7F"/>
                </a:solidFill>
                <a:latin typeface="Calibri" pitchFamily="34" charset="0"/>
                <a:cs typeface="Calibri" panose="020F0502020204030204" pitchFamily="34" charset="0"/>
              </a:rPr>
              <a:t>various elements included</a:t>
            </a:r>
            <a:r>
              <a:rPr sz="4900" dirty="0">
                <a:solidFill>
                  <a:srgbClr val="7F7F7F"/>
                </a:solidFill>
                <a:latin typeface="Calibri" pitchFamily="34" charset="0"/>
                <a:cs typeface="Calibri" panose="020F0502020204030204" pitchFamily="34" charset="0"/>
              </a:rPr>
              <a:t> in this </a:t>
            </a:r>
            <a:r>
              <a:rPr lang="en-US" sz="4900" dirty="0">
                <a:solidFill>
                  <a:srgbClr val="7F7F7F"/>
                </a:solidFill>
                <a:latin typeface="Calibri" pitchFamily="34" charset="0"/>
                <a:cs typeface="Calibri" panose="020F0502020204030204" pitchFamily="34" charset="0"/>
              </a:rPr>
              <a:t>poster are ones</a:t>
            </a:r>
            <a:r>
              <a:rPr lang="en-US" sz="4900" baseline="0" dirty="0">
                <a:solidFill>
                  <a:srgbClr val="7F7F7F"/>
                </a:solidFill>
                <a:latin typeface="Calibri" pitchFamily="34" charset="0"/>
                <a:cs typeface="Calibri" panose="020F0502020204030204" pitchFamily="34" charset="0"/>
              </a:rPr>
              <a:t> we often see in medical, research, and scientific posters.</a:t>
            </a:r>
            <a:r>
              <a:rPr sz="4900" dirty="0">
                <a:solidFill>
                  <a:srgbClr val="7F7F7F"/>
                </a:solidFill>
                <a:latin typeface="Calibri" pitchFamily="34" charset="0"/>
                <a:cs typeface="Calibri" panose="020F0502020204030204" pitchFamily="34" charset="0"/>
              </a:rPr>
              <a:t> </a:t>
            </a:r>
            <a:r>
              <a:rPr lang="en-US" sz="4900" dirty="0">
                <a:solidFill>
                  <a:srgbClr val="7F7F7F"/>
                </a:solidFill>
                <a:latin typeface="Calibri" pitchFamily="34" charset="0"/>
                <a:cs typeface="Calibri" panose="020F0502020204030204" pitchFamily="34" charset="0"/>
              </a:rPr>
              <a:t>Feel</a:t>
            </a:r>
            <a:r>
              <a:rPr lang="en-US" sz="4900" baseline="0" dirty="0">
                <a:solidFill>
                  <a:srgbClr val="7F7F7F"/>
                </a:solidFill>
                <a:latin typeface="Calibri" pitchFamily="34" charset="0"/>
                <a:cs typeface="Calibri" panose="020F0502020204030204" pitchFamily="34" charset="0"/>
              </a:rPr>
              <a:t> free to edit, move,  add, and delete items, or change the layout to suit your needs. Always check with your conference organizer for specific requirements.</a:t>
            </a:r>
          </a:p>
          <a:p>
            <a:pPr lvl="0">
              <a:spcBef>
                <a:spcPts val="0"/>
              </a:spcBef>
              <a:spcAft>
                <a:spcPts val="1800"/>
              </a:spcAft>
            </a:pPr>
            <a:r>
              <a:rPr lang="en-US" sz="7200" dirty="0">
                <a:solidFill>
                  <a:srgbClr val="7F7F7F"/>
                </a:solidFill>
                <a:latin typeface="Calibri" pitchFamily="34" charset="0"/>
                <a:cs typeface="Calibri" panose="020F0502020204030204" pitchFamily="34" charset="0"/>
              </a:rPr>
              <a:t>Image</a:t>
            </a:r>
            <a:r>
              <a:rPr lang="en-US" sz="7200" baseline="0" dirty="0">
                <a:solidFill>
                  <a:srgbClr val="7F7F7F"/>
                </a:solidFill>
                <a:latin typeface="Calibri" pitchFamily="34" charset="0"/>
                <a:cs typeface="Calibri" panose="020F0502020204030204" pitchFamily="34" charset="0"/>
              </a:rPr>
              <a:t> Quality</a:t>
            </a:r>
            <a:r>
              <a:rPr lang="en-US" sz="7200" dirty="0">
                <a:solidFill>
                  <a:srgbClr val="7F7F7F"/>
                </a:solidFill>
                <a:latin typeface="Calibri" pitchFamily="34" charset="0"/>
                <a:cs typeface="Calibri" panose="020F0502020204030204" pitchFamily="34" charset="0"/>
              </a:rPr>
              <a:t>:</a:t>
            </a:r>
          </a:p>
          <a:p>
            <a:pPr lvl="0">
              <a:spcBef>
                <a:spcPts val="0"/>
              </a:spcBef>
              <a:spcAft>
                <a:spcPts val="1800"/>
              </a:spcAft>
            </a:pPr>
            <a:r>
              <a:rPr lang="en-US" sz="4900" dirty="0">
                <a:solidFill>
                  <a:srgbClr val="7F7F7F"/>
                </a:solidFill>
                <a:latin typeface="Calibri" pitchFamily="34" charset="0"/>
                <a:cs typeface="Calibri" panose="020F0502020204030204" pitchFamily="34" charset="0"/>
              </a:rPr>
              <a:t>You can place digital photos or logo art in your poster file by selecting the </a:t>
            </a:r>
            <a:r>
              <a:rPr lang="en-US" sz="4900" b="1" dirty="0">
                <a:solidFill>
                  <a:srgbClr val="7F7F7F"/>
                </a:solidFill>
                <a:latin typeface="Calibri" pitchFamily="34" charset="0"/>
                <a:cs typeface="Calibri" panose="020F0502020204030204" pitchFamily="34" charset="0"/>
              </a:rPr>
              <a:t>Insert, Picture</a:t>
            </a:r>
            <a:r>
              <a:rPr lang="en-US" sz="4900" dirty="0">
                <a:solidFill>
                  <a:srgbClr val="7F7F7F"/>
                </a:solidFill>
                <a:latin typeface="Calibri" pitchFamily="34" charset="0"/>
                <a:cs typeface="Calibri" panose="020F0502020204030204" pitchFamily="34" charset="0"/>
              </a:rPr>
              <a:t> command, or by using standard copy &amp; paste. For best results, all graphic elements should be at least </a:t>
            </a:r>
            <a:r>
              <a:rPr lang="en-US" sz="4900" b="1" dirty="0">
                <a:solidFill>
                  <a:srgbClr val="7F7F7F"/>
                </a:solidFill>
                <a:latin typeface="Calibri" pitchFamily="34" charset="0"/>
                <a:cs typeface="Calibri" panose="020F0502020204030204" pitchFamily="34" charset="0"/>
              </a:rPr>
              <a:t>150-200 pixels per inch in their final printed size</a:t>
            </a:r>
            <a:r>
              <a:rPr lang="en-US" sz="4900" dirty="0">
                <a:solidFill>
                  <a:srgbClr val="7F7F7F"/>
                </a:solidFill>
                <a:latin typeface="Calibri" pitchFamily="34" charset="0"/>
                <a:cs typeface="Calibri" panose="020F0502020204030204" pitchFamily="34" charset="0"/>
              </a:rPr>
              <a:t>. For instance, a 1600 x 1200 pixel</a:t>
            </a:r>
            <a:r>
              <a:rPr lang="en-US" sz="4900" baseline="0" dirty="0">
                <a:solidFill>
                  <a:srgbClr val="7F7F7F"/>
                </a:solidFill>
                <a:latin typeface="Calibri" pitchFamily="34" charset="0"/>
                <a:cs typeface="Calibri" panose="020F0502020204030204" pitchFamily="34" charset="0"/>
              </a:rPr>
              <a:t> photo will usually look fine up to </a:t>
            </a:r>
            <a:r>
              <a:rPr lang="en-US" sz="4900" dirty="0">
                <a:solidFill>
                  <a:srgbClr val="7F7F7F"/>
                </a:solidFill>
                <a:latin typeface="Calibri" pitchFamily="34" charset="0"/>
                <a:cs typeface="Calibri" panose="020F0502020204030204" pitchFamily="34" charset="0"/>
              </a:rPr>
              <a:t>8“-10” wide on your printed poster.</a:t>
            </a:r>
          </a:p>
          <a:p>
            <a:pPr lvl="0">
              <a:spcBef>
                <a:spcPts val="0"/>
              </a:spcBef>
              <a:spcAft>
                <a:spcPts val="1800"/>
              </a:spcAft>
            </a:pPr>
            <a:r>
              <a:rPr lang="en-US" sz="4900" dirty="0">
                <a:solidFill>
                  <a:srgbClr val="7F7F7F"/>
                </a:solidFill>
                <a:latin typeface="Calibri" pitchFamily="34" charset="0"/>
                <a:cs typeface="Calibri" panose="020F0502020204030204" pitchFamily="34" charset="0"/>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p>
          <a:p>
            <a:pPr lvl="0">
              <a:spcBef>
                <a:spcPts val="0"/>
              </a:spcBef>
              <a:spcAft>
                <a:spcPts val="1800"/>
              </a:spcAft>
            </a:pPr>
            <a:r>
              <a:rPr lang="en-US" sz="4900" dirty="0">
                <a:solidFill>
                  <a:srgbClr val="7F7F7F"/>
                </a:solidFill>
                <a:latin typeface="Calibri" pitchFamily="34" charset="0"/>
                <a:cs typeface="Calibri" panose="020F0502020204030204" pitchFamily="34" charset="0"/>
              </a:rPr>
              <a:t>Please note that graphics from websites (such as the logo on your hospital's or university's home page) will only be 72dpi and not suitable for printing.</a:t>
            </a:r>
          </a:p>
          <a:p>
            <a:pPr lvl="0" algn="ctr">
              <a:spcBef>
                <a:spcPts val="0"/>
              </a:spcBef>
              <a:spcAft>
                <a:spcPts val="1800"/>
              </a:spcAft>
            </a:pPr>
            <a:br>
              <a:rPr lang="en-US" sz="3600" dirty="0">
                <a:solidFill>
                  <a:srgbClr val="7F7F7F"/>
                </a:solidFill>
                <a:latin typeface="Calibri" pitchFamily="34" charset="0"/>
                <a:cs typeface="Calibri" panose="020F0502020204030204" pitchFamily="34" charset="0"/>
              </a:rPr>
            </a:br>
            <a:r>
              <a:rPr lang="en-US" sz="3600" dirty="0">
                <a:solidFill>
                  <a:srgbClr val="7F7F7F"/>
                </a:solidFill>
                <a:latin typeface="Calibri" pitchFamily="34" charset="0"/>
                <a:cs typeface="Calibri" panose="020F0502020204030204" pitchFamily="34" charset="0"/>
              </a:rPr>
              <a:t>[This sidebar area does not print.]</a:t>
            </a:r>
          </a:p>
        </p:txBody>
      </p:sp>
      <p:grpSp>
        <p:nvGrpSpPr>
          <p:cNvPr id="12" name="Group 11">
            <a:extLst>
              <a:ext uri="{FF2B5EF4-FFF2-40B4-BE49-F238E27FC236}">
                <a16:creationId xmlns:a16="http://schemas.microsoft.com/office/drawing/2014/main" id="{8C03A960-1683-409E-A55D-F51A19859FC5}"/>
              </a:ext>
            </a:extLst>
          </p:cNvPr>
          <p:cNvGrpSpPr/>
          <p:nvPr userDrawn="1"/>
        </p:nvGrpSpPr>
        <p:grpSpPr>
          <a:xfrm>
            <a:off x="44805600" y="0"/>
            <a:ext cx="9601200" cy="32918400"/>
            <a:chOff x="33832800" y="0"/>
            <a:chExt cx="12801600" cy="43891200"/>
          </a:xfrm>
        </p:grpSpPr>
        <p:sp>
          <p:nvSpPr>
            <p:cNvPr id="13" name="Instructions">
              <a:extLst>
                <a:ext uri="{FF2B5EF4-FFF2-40B4-BE49-F238E27FC236}">
                  <a16:creationId xmlns:a16="http://schemas.microsoft.com/office/drawing/2014/main" id="{AB929665-0AA8-4244-A1ED-F55D3543CCB6}"/>
                </a:ext>
              </a:extLst>
            </p:cNvPr>
            <p:cNvSpPr/>
            <p:nvPr userDrawn="1"/>
          </p:nvSpPr>
          <p:spPr>
            <a:xfrm>
              <a:off x="33832800" y="0"/>
              <a:ext cx="12801600" cy="438912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28600" tIns="228600" rIns="228600" bIns="228600" rtlCol="0" anchor="t"/>
            <a:lstStyle>
              <a:defPPr>
                <a:defRPr lang="en-US"/>
              </a:defPPr>
              <a:lvl1pPr marL="0" algn="l" defTabSz="3686861" rtl="0" eaLnBrk="1" latinLnBrk="0" hangingPunct="1">
                <a:defRPr sz="7258" kern="1200">
                  <a:solidFill>
                    <a:schemeClr val="lt1"/>
                  </a:solidFill>
                  <a:latin typeface="+mn-lt"/>
                  <a:ea typeface="+mn-ea"/>
                  <a:cs typeface="+mn-cs"/>
                </a:defRPr>
              </a:lvl1pPr>
              <a:lvl2pPr marL="1843430" algn="l" defTabSz="3686861" rtl="0" eaLnBrk="1" latinLnBrk="0" hangingPunct="1">
                <a:defRPr sz="7258" kern="1200">
                  <a:solidFill>
                    <a:schemeClr val="lt1"/>
                  </a:solidFill>
                  <a:latin typeface="+mn-lt"/>
                  <a:ea typeface="+mn-ea"/>
                  <a:cs typeface="+mn-cs"/>
                </a:defRPr>
              </a:lvl2pPr>
              <a:lvl3pPr marL="3686861" algn="l" defTabSz="3686861" rtl="0" eaLnBrk="1" latinLnBrk="0" hangingPunct="1">
                <a:defRPr sz="7258" kern="1200">
                  <a:solidFill>
                    <a:schemeClr val="lt1"/>
                  </a:solidFill>
                  <a:latin typeface="+mn-lt"/>
                  <a:ea typeface="+mn-ea"/>
                  <a:cs typeface="+mn-cs"/>
                </a:defRPr>
              </a:lvl3pPr>
              <a:lvl4pPr marL="5530291" algn="l" defTabSz="3686861" rtl="0" eaLnBrk="1" latinLnBrk="0" hangingPunct="1">
                <a:defRPr sz="7258" kern="1200">
                  <a:solidFill>
                    <a:schemeClr val="lt1"/>
                  </a:solidFill>
                  <a:latin typeface="+mn-lt"/>
                  <a:ea typeface="+mn-ea"/>
                  <a:cs typeface="+mn-cs"/>
                </a:defRPr>
              </a:lvl4pPr>
              <a:lvl5pPr marL="7373722" algn="l" defTabSz="3686861" rtl="0" eaLnBrk="1" latinLnBrk="0" hangingPunct="1">
                <a:defRPr sz="7258" kern="1200">
                  <a:solidFill>
                    <a:schemeClr val="lt1"/>
                  </a:solidFill>
                  <a:latin typeface="+mn-lt"/>
                  <a:ea typeface="+mn-ea"/>
                  <a:cs typeface="+mn-cs"/>
                </a:defRPr>
              </a:lvl5pPr>
              <a:lvl6pPr marL="9217152" algn="l" defTabSz="3686861" rtl="0" eaLnBrk="1" latinLnBrk="0" hangingPunct="1">
                <a:defRPr sz="7258" kern="1200">
                  <a:solidFill>
                    <a:schemeClr val="lt1"/>
                  </a:solidFill>
                  <a:latin typeface="+mn-lt"/>
                  <a:ea typeface="+mn-ea"/>
                  <a:cs typeface="+mn-cs"/>
                </a:defRPr>
              </a:lvl6pPr>
              <a:lvl7pPr marL="11060582" algn="l" defTabSz="3686861" rtl="0" eaLnBrk="1" latinLnBrk="0" hangingPunct="1">
                <a:defRPr sz="7258" kern="1200">
                  <a:solidFill>
                    <a:schemeClr val="lt1"/>
                  </a:solidFill>
                  <a:latin typeface="+mn-lt"/>
                  <a:ea typeface="+mn-ea"/>
                  <a:cs typeface="+mn-cs"/>
                </a:defRPr>
              </a:lvl7pPr>
              <a:lvl8pPr marL="12904013" algn="l" defTabSz="3686861" rtl="0" eaLnBrk="1" latinLnBrk="0" hangingPunct="1">
                <a:defRPr sz="7258" kern="1200">
                  <a:solidFill>
                    <a:schemeClr val="lt1"/>
                  </a:solidFill>
                  <a:latin typeface="+mn-lt"/>
                  <a:ea typeface="+mn-ea"/>
                  <a:cs typeface="+mn-cs"/>
                </a:defRPr>
              </a:lvl8pPr>
              <a:lvl9pPr marL="14747443" algn="l" defTabSz="3686861" rtl="0" eaLnBrk="1" latinLnBrk="0" hangingPunct="1">
                <a:defRPr sz="7258" kern="1200">
                  <a:solidFill>
                    <a:schemeClr val="lt1"/>
                  </a:solidFill>
                  <a:latin typeface="+mn-lt"/>
                  <a:ea typeface="+mn-ea"/>
                  <a:cs typeface="+mn-cs"/>
                </a:defRPr>
              </a:lvl9pPr>
            </a:lstStyle>
            <a:p>
              <a:pPr lvl="0">
                <a:spcBef>
                  <a:spcPts val="0"/>
                </a:spcBef>
                <a:spcAft>
                  <a:spcPts val="1800"/>
                </a:spcAft>
              </a:pPr>
              <a:r>
                <a:rPr lang="en-US" sz="7200" dirty="0">
                  <a:solidFill>
                    <a:schemeClr val="bg1">
                      <a:lumMod val="50000"/>
                    </a:schemeClr>
                  </a:solidFill>
                  <a:latin typeface="Calibri" pitchFamily="34" charset="0"/>
                  <a:cs typeface="Calibri" panose="020F0502020204030204" pitchFamily="34" charset="0"/>
                </a:rPr>
                <a:t>Change</a:t>
              </a:r>
              <a:r>
                <a:rPr lang="en-US" sz="7200" baseline="0" dirty="0">
                  <a:solidFill>
                    <a:schemeClr val="bg1">
                      <a:lumMod val="50000"/>
                    </a:schemeClr>
                  </a:solidFill>
                  <a:latin typeface="Calibri" pitchFamily="34" charset="0"/>
                  <a:cs typeface="Calibri" panose="020F0502020204030204" pitchFamily="34" charset="0"/>
                </a:rPr>
                <a:t> Color Theme</a:t>
              </a:r>
              <a:r>
                <a:rPr lang="en-US" sz="7200" dirty="0">
                  <a:solidFill>
                    <a:schemeClr val="bg1">
                      <a:lumMod val="50000"/>
                    </a:schemeClr>
                  </a:solidFill>
                  <a:latin typeface="Calibri" pitchFamily="34" charset="0"/>
                  <a:cs typeface="Calibri" panose="020F0502020204030204" pitchFamily="34" charset="0"/>
                </a:rPr>
                <a:t>:</a:t>
              </a:r>
              <a:endParaRPr sz="720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r>
                <a:rPr lang="en-US" sz="4900" dirty="0">
                  <a:solidFill>
                    <a:schemeClr val="bg1">
                      <a:lumMod val="50000"/>
                    </a:schemeClr>
                  </a:solidFill>
                  <a:latin typeface="Calibri" pitchFamily="34" charset="0"/>
                  <a:cs typeface="Calibri" panose="020F0502020204030204" pitchFamily="34" charset="0"/>
                </a:rPr>
                <a:t>This template is designed to use the built-in color themes in</a:t>
              </a:r>
              <a:r>
                <a:rPr lang="en-US" sz="4900" baseline="0" dirty="0">
                  <a:solidFill>
                    <a:schemeClr val="bg1">
                      <a:lumMod val="50000"/>
                    </a:schemeClr>
                  </a:solidFill>
                  <a:latin typeface="Calibri" pitchFamily="34" charset="0"/>
                  <a:cs typeface="Calibri" panose="020F0502020204030204" pitchFamily="34" charset="0"/>
                </a:rPr>
                <a:t> the newer versions of PowerPoint.</a:t>
              </a:r>
            </a:p>
            <a:p>
              <a:pPr lvl="0">
                <a:spcBef>
                  <a:spcPts val="0"/>
                </a:spcBef>
                <a:spcAft>
                  <a:spcPts val="1800"/>
                </a:spcAft>
              </a:pPr>
              <a:r>
                <a:rPr lang="en-US" sz="4900" baseline="0" dirty="0">
                  <a:solidFill>
                    <a:schemeClr val="bg1">
                      <a:lumMod val="50000"/>
                    </a:schemeClr>
                  </a:solidFill>
                  <a:latin typeface="Calibri" pitchFamily="34" charset="0"/>
                  <a:cs typeface="Calibri" panose="020F0502020204030204" pitchFamily="34" charset="0"/>
                </a:rPr>
                <a:t>To change the color theme, select the </a:t>
              </a:r>
              <a:r>
                <a:rPr lang="en-US" sz="4900" b="1" baseline="0" dirty="0">
                  <a:solidFill>
                    <a:schemeClr val="bg1">
                      <a:lumMod val="50000"/>
                    </a:schemeClr>
                  </a:solidFill>
                  <a:latin typeface="Calibri" pitchFamily="34" charset="0"/>
                  <a:cs typeface="Calibri" panose="020F0502020204030204" pitchFamily="34" charset="0"/>
                </a:rPr>
                <a:t>Design</a:t>
              </a:r>
              <a:r>
                <a:rPr lang="en-US" sz="4900" baseline="0" dirty="0">
                  <a:solidFill>
                    <a:schemeClr val="bg1">
                      <a:lumMod val="50000"/>
                    </a:schemeClr>
                  </a:solidFill>
                  <a:latin typeface="Calibri" pitchFamily="34" charset="0"/>
                  <a:cs typeface="Calibri" panose="020F0502020204030204" pitchFamily="34" charset="0"/>
                </a:rPr>
                <a:t> tab, then select the </a:t>
              </a:r>
              <a:r>
                <a:rPr lang="en-US" sz="4900" b="1" baseline="0" dirty="0">
                  <a:solidFill>
                    <a:schemeClr val="bg1">
                      <a:lumMod val="50000"/>
                    </a:schemeClr>
                  </a:solidFill>
                  <a:latin typeface="Calibri" pitchFamily="34" charset="0"/>
                  <a:cs typeface="Calibri" panose="020F0502020204030204" pitchFamily="34" charset="0"/>
                </a:rPr>
                <a:t>Colors</a:t>
              </a:r>
              <a:r>
                <a:rPr lang="en-US" sz="4900" baseline="0" dirty="0">
                  <a:solidFill>
                    <a:schemeClr val="bg1">
                      <a:lumMod val="50000"/>
                    </a:schemeClr>
                  </a:solidFill>
                  <a:latin typeface="Calibri" pitchFamily="34" charset="0"/>
                  <a:cs typeface="Calibri" panose="020F0502020204030204" pitchFamily="34" charset="0"/>
                </a:rPr>
                <a:t> drop-down list.</a:t>
              </a:r>
            </a:p>
            <a:p>
              <a:pPr lvl="0">
                <a:spcBef>
                  <a:spcPts val="0"/>
                </a:spcBef>
                <a:spcAft>
                  <a:spcPts val="1800"/>
                </a:spcAft>
              </a:pPr>
              <a:endParaRPr lang="en-US" sz="49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endParaRPr lang="en-US" sz="4900" baseline="0" dirty="0">
                <a:solidFill>
                  <a:schemeClr val="bg1">
                    <a:lumMod val="50000"/>
                  </a:schemeClr>
                </a:solidFill>
                <a:latin typeface="Calibri" pitchFamily="34" charset="0"/>
                <a:cs typeface="Calibri" panose="020F0502020204030204" pitchFamily="34" charset="0"/>
              </a:endParaRPr>
            </a:p>
            <a:p>
              <a:pPr lvl="0">
                <a:spcBef>
                  <a:spcPts val="0"/>
                </a:spcBef>
                <a:spcAft>
                  <a:spcPts val="1800"/>
                </a:spcAft>
              </a:pPr>
              <a:r>
                <a:rPr lang="en-US" sz="4900" baseline="0" dirty="0">
                  <a:solidFill>
                    <a:schemeClr val="bg1">
                      <a:lumMod val="50000"/>
                    </a:schemeClr>
                  </a:solidFill>
                  <a:latin typeface="Calibri" pitchFamily="34" charset="0"/>
                  <a:cs typeface="Calibri" panose="020F0502020204030204" pitchFamily="34" charset="0"/>
                </a:rPr>
                <a:t>The default color theme for this template is “Office”, so you can always return to that after trying some of the alternatives.</a:t>
              </a:r>
            </a:p>
            <a:p>
              <a:pPr lvl="0">
                <a:spcBef>
                  <a:spcPts val="0"/>
                </a:spcBef>
                <a:spcAft>
                  <a:spcPts val="1800"/>
                </a:spcAft>
              </a:pPr>
              <a:r>
                <a:rPr lang="en-US" sz="7200" dirty="0">
                  <a:solidFill>
                    <a:schemeClr val="bg1">
                      <a:lumMod val="50000"/>
                    </a:schemeClr>
                  </a:solidFill>
                  <a:latin typeface="Calibri" pitchFamily="34" charset="0"/>
                  <a:cs typeface="Calibri" panose="020F0502020204030204" pitchFamily="34" charset="0"/>
                </a:rPr>
                <a:t>Printing Your Poster:</a:t>
              </a:r>
            </a:p>
            <a:p>
              <a:pPr lvl="0">
                <a:spcBef>
                  <a:spcPts val="0"/>
                </a:spcBef>
                <a:spcAft>
                  <a:spcPts val="1800"/>
                </a:spcAft>
              </a:pPr>
              <a:r>
                <a:rPr lang="en-US" sz="4900" dirty="0">
                  <a:solidFill>
                    <a:schemeClr val="bg1">
                      <a:lumMod val="50000"/>
                    </a:schemeClr>
                  </a:solidFill>
                  <a:latin typeface="Calibri" pitchFamily="34" charset="0"/>
                  <a:cs typeface="Calibri" panose="020F0502020204030204" pitchFamily="34" charset="0"/>
                </a:rPr>
                <a:t>Once your poster file is ready, visit</a:t>
              </a:r>
              <a:r>
                <a:rPr lang="en-US" sz="4900" baseline="0" dirty="0">
                  <a:solidFill>
                    <a:schemeClr val="bg1">
                      <a:lumMod val="50000"/>
                    </a:schemeClr>
                  </a:solidFill>
                  <a:latin typeface="Calibri" pitchFamily="34" charset="0"/>
                  <a:cs typeface="Calibri" panose="020F0502020204030204" pitchFamily="34" charset="0"/>
                </a:rPr>
                <a:t> </a:t>
              </a:r>
              <a:r>
                <a:rPr lang="en-US" sz="4900" b="1" baseline="0" dirty="0">
                  <a:solidFill>
                    <a:schemeClr val="bg1">
                      <a:lumMod val="50000"/>
                    </a:schemeClr>
                  </a:solidFill>
                  <a:latin typeface="Calibri" pitchFamily="34" charset="0"/>
                  <a:cs typeface="Calibri" panose="020F0502020204030204" pitchFamily="34" charset="0"/>
                </a:rPr>
                <a:t>www.genigraphics.com</a:t>
              </a:r>
              <a:r>
                <a:rPr lang="en-US" sz="4900" baseline="0" dirty="0">
                  <a:solidFill>
                    <a:schemeClr val="bg1">
                      <a:lumMod val="50000"/>
                    </a:schemeClr>
                  </a:solidFill>
                  <a:latin typeface="Calibri" pitchFamily="34" charset="0"/>
                  <a:cs typeface="Calibri" panose="020F0502020204030204" pitchFamily="34" charset="0"/>
                </a:rPr>
                <a:t> to order a high-quality, affordable poster print. Every order receives a free design review and we can deliver as fast as next business day within the US and Canada. </a:t>
              </a:r>
            </a:p>
            <a:p>
              <a:pPr lvl="0">
                <a:spcBef>
                  <a:spcPts val="0"/>
                </a:spcBef>
                <a:spcAft>
                  <a:spcPts val="1800"/>
                </a:spcAft>
              </a:pPr>
              <a:r>
                <a:rPr lang="en-US" sz="4900" baseline="0" dirty="0">
                  <a:solidFill>
                    <a:schemeClr val="bg1">
                      <a:lumMod val="50000"/>
                    </a:schemeClr>
                  </a:solidFill>
                  <a:latin typeface="Calibri" pitchFamily="34" charset="0"/>
                  <a:cs typeface="Calibri" panose="020F0502020204030204" pitchFamily="34" charset="0"/>
                </a:rPr>
                <a:t>Genigraphics® has been producing output from PowerPoint® longer than anyone in the industry; dating back to when we helped Microsoft® design the PowerPoint® software. </a:t>
              </a:r>
            </a:p>
            <a:p>
              <a:pPr lvl="0">
                <a:spcBef>
                  <a:spcPts val="0"/>
                </a:spcBef>
                <a:spcAft>
                  <a:spcPts val="0"/>
                </a:spcAft>
              </a:pPr>
              <a:endParaRPr lang="en-US" sz="4900" baseline="0" dirty="0">
                <a:solidFill>
                  <a:schemeClr val="bg1">
                    <a:lumMod val="50000"/>
                  </a:schemeClr>
                </a:solidFill>
                <a:latin typeface="Calibri" pitchFamily="34" charset="0"/>
                <a:cs typeface="Calibri" panose="020F0502020204030204" pitchFamily="34" charset="0"/>
              </a:endParaRPr>
            </a:p>
            <a:p>
              <a:pPr lvl="0" algn="ctr">
                <a:spcBef>
                  <a:spcPts val="0"/>
                </a:spcBef>
                <a:spcAft>
                  <a:spcPts val="0"/>
                </a:spcAft>
              </a:pPr>
              <a:r>
                <a:rPr lang="en-US" sz="4900" baseline="0" dirty="0">
                  <a:solidFill>
                    <a:schemeClr val="bg1">
                      <a:lumMod val="50000"/>
                    </a:schemeClr>
                  </a:solidFill>
                  <a:latin typeface="Calibri" pitchFamily="34" charset="0"/>
                  <a:cs typeface="Calibri" panose="020F0502020204030204" pitchFamily="34" charset="0"/>
                </a:rPr>
                <a:t>US and Canada:  1-800-790-4001</a:t>
              </a:r>
              <a:br>
                <a:rPr lang="en-US" sz="4900" baseline="0" dirty="0">
                  <a:solidFill>
                    <a:schemeClr val="bg1">
                      <a:lumMod val="50000"/>
                    </a:schemeClr>
                  </a:solidFill>
                  <a:latin typeface="Calibri" pitchFamily="34" charset="0"/>
                  <a:cs typeface="Calibri" panose="020F0502020204030204" pitchFamily="34" charset="0"/>
                </a:rPr>
              </a:br>
              <a:r>
                <a:rPr lang="en-US" sz="4900" baseline="0" dirty="0">
                  <a:solidFill>
                    <a:schemeClr val="bg1">
                      <a:lumMod val="50000"/>
                    </a:schemeClr>
                  </a:solidFill>
                  <a:latin typeface="Calibri" pitchFamily="34" charset="0"/>
                  <a:cs typeface="Calibri" panose="020F0502020204030204" pitchFamily="34" charset="0"/>
                </a:rPr>
                <a:t>Email: info@genigraphics.com</a:t>
              </a:r>
            </a:p>
            <a:p>
              <a:pPr lvl="0" algn="ctr">
                <a:spcBef>
                  <a:spcPts val="0"/>
                </a:spcBef>
                <a:spcAft>
                  <a:spcPts val="0"/>
                </a:spcAft>
              </a:pPr>
              <a:br>
                <a:rPr lang="en-US" sz="3600" dirty="0">
                  <a:solidFill>
                    <a:schemeClr val="bg1">
                      <a:lumMod val="50000"/>
                    </a:schemeClr>
                  </a:solidFill>
                  <a:latin typeface="Calibri" pitchFamily="34" charset="0"/>
                  <a:cs typeface="Calibri" panose="020F0502020204030204" pitchFamily="34" charset="0"/>
                </a:rPr>
              </a:br>
              <a:r>
                <a:rPr lang="en-US" sz="3600" dirty="0">
                  <a:solidFill>
                    <a:schemeClr val="bg1">
                      <a:lumMod val="50000"/>
                    </a:schemeClr>
                  </a:solidFill>
                  <a:latin typeface="Calibri" pitchFamily="34" charset="0"/>
                  <a:cs typeface="Calibri" panose="020F0502020204030204" pitchFamily="34" charset="0"/>
                </a:rPr>
                <a:t>[This sidebar area does not print.]</a:t>
              </a:r>
            </a:p>
          </p:txBody>
        </p:sp>
        <p:pic>
          <p:nvPicPr>
            <p:cNvPr id="14" name="Picture 13">
              <a:extLst>
                <a:ext uri="{FF2B5EF4-FFF2-40B4-BE49-F238E27FC236}">
                  <a16:creationId xmlns:a16="http://schemas.microsoft.com/office/drawing/2014/main" id="{7BC9F82D-95DA-49DA-BE65-A0623C7DA1E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4281342" y="9260274"/>
              <a:ext cx="11904515" cy="10246926"/>
            </a:xfrm>
            <a:prstGeom prst="rect">
              <a:avLst/>
            </a:prstGeom>
          </p:spPr>
        </p:pic>
      </p:grpSp>
      <p:pic>
        <p:nvPicPr>
          <p:cNvPr id="15" name="Picture 14">
            <a:extLst>
              <a:ext uri="{FF2B5EF4-FFF2-40B4-BE49-F238E27FC236}">
                <a16:creationId xmlns:a16="http://schemas.microsoft.com/office/drawing/2014/main" id="{C3E37D2B-E2A9-420A-AA43-8831BDD4649F}"/>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8404800" y="32613600"/>
            <a:ext cx="5297435" cy="185928"/>
          </a:xfrm>
          <a:prstGeom prst="rect">
            <a:avLst/>
          </a:prstGeom>
        </p:spPr>
      </p:pic>
    </p:spTree>
    <p:extLst>
      <p:ext uri="{BB962C8B-B14F-4D97-AF65-F5344CB8AC3E}">
        <p14:creationId xmlns:p14="http://schemas.microsoft.com/office/powerpoint/2010/main" val="3690493784"/>
      </p:ext>
    </p:extLst>
  </p:cSld>
  <p:clrMap bg1="lt1" tx1="dk1" bg2="lt2" tx2="dk2" accent1="accent1" accent2="accent2" accent3="accent3" accent4="accent4" accent5="accent5" accent6="accent6" hlink="hlink" folHlink="folHlink"/>
  <p:sldLayoutIdLst>
    <p:sldLayoutId id="2147483715" r:id="rId1"/>
  </p:sldLayoutIdLst>
  <p:txStyles>
    <p:titleStyle>
      <a:lvl1pPr algn="l" defTabSz="3291840" rtl="0" eaLnBrk="1" latinLnBrk="0" hangingPunct="1">
        <a:lnSpc>
          <a:spcPct val="90000"/>
        </a:lnSpc>
        <a:spcBef>
          <a:spcPct val="0"/>
        </a:spcBef>
        <a:buNone/>
        <a:defRPr sz="8000" b="0" kern="1200">
          <a:solidFill>
            <a:schemeClr val="tx1"/>
          </a:solidFill>
          <a:latin typeface="Calibri" panose="020F0502020204030204" pitchFamily="34" charset="0"/>
          <a:ea typeface="+mj-ea"/>
          <a:cs typeface="Calibri" panose="020F0502020204030204" pitchFamily="34" charset="0"/>
        </a:defRPr>
      </a:lvl1pPr>
    </p:titleStyle>
    <p:bodyStyle>
      <a:lvl1pPr marL="822960" indent="-822960" algn="l" defTabSz="3291840" rtl="0" eaLnBrk="1" latinLnBrk="0" hangingPunct="1">
        <a:lnSpc>
          <a:spcPct val="90000"/>
        </a:lnSpc>
        <a:spcBef>
          <a:spcPts val="3600"/>
        </a:spcBef>
        <a:buFont typeface="Arial" panose="020B0604020202020204" pitchFamily="34" charset="0"/>
        <a:buChar char="•"/>
        <a:defRPr sz="8000" kern="1200">
          <a:solidFill>
            <a:schemeClr val="tx1"/>
          </a:solidFill>
          <a:latin typeface="+mn-lt"/>
          <a:ea typeface="+mn-ea"/>
          <a:cs typeface="+mn-cs"/>
        </a:defRPr>
      </a:lvl1pPr>
      <a:lvl2pPr marL="2468880" indent="-822960" algn="l" defTabSz="3291840" rtl="0" eaLnBrk="1" latinLnBrk="0" hangingPunct="1">
        <a:lnSpc>
          <a:spcPct val="90000"/>
        </a:lnSpc>
        <a:spcBef>
          <a:spcPts val="1800"/>
        </a:spcBef>
        <a:buFont typeface="Arial" panose="020B0604020202020204" pitchFamily="34" charset="0"/>
        <a:buChar char="•"/>
        <a:defRPr sz="6600" kern="1200">
          <a:solidFill>
            <a:schemeClr val="tx1"/>
          </a:solidFill>
          <a:latin typeface="+mn-lt"/>
          <a:ea typeface="+mn-ea"/>
          <a:cs typeface="+mn-cs"/>
        </a:defRPr>
      </a:lvl2pPr>
      <a:lvl3pPr marL="4114800" indent="-822960" algn="l" defTabSz="3291840" rtl="0" eaLnBrk="1" latinLnBrk="0" hangingPunct="1">
        <a:lnSpc>
          <a:spcPct val="90000"/>
        </a:lnSpc>
        <a:spcBef>
          <a:spcPts val="1800"/>
        </a:spcBef>
        <a:buFont typeface="Arial" panose="020B0604020202020204" pitchFamily="34" charset="0"/>
        <a:buChar char="•"/>
        <a:defRPr sz="5400" kern="1200">
          <a:solidFill>
            <a:schemeClr val="tx1"/>
          </a:solidFill>
          <a:latin typeface="+mn-lt"/>
          <a:ea typeface="+mn-ea"/>
          <a:cs typeface="+mn-cs"/>
        </a:defRPr>
      </a:lvl3pPr>
      <a:lvl4pPr marL="5760720" indent="-822960" algn="l" defTabSz="3291840" rtl="0" eaLnBrk="1" latinLnBrk="0" hangingPunct="1">
        <a:lnSpc>
          <a:spcPct val="90000"/>
        </a:lnSpc>
        <a:spcBef>
          <a:spcPts val="1800"/>
        </a:spcBef>
        <a:buFont typeface="Arial" panose="020B0604020202020204" pitchFamily="34" charset="0"/>
        <a:buChar char="•"/>
        <a:defRPr sz="4800" kern="1200">
          <a:solidFill>
            <a:schemeClr val="tx1"/>
          </a:solidFill>
          <a:latin typeface="+mn-lt"/>
          <a:ea typeface="+mn-ea"/>
          <a:cs typeface="+mn-cs"/>
        </a:defRPr>
      </a:lvl4pPr>
      <a:lvl5pPr marL="7406640" indent="-822960" algn="l" defTabSz="3291840" rtl="0" eaLnBrk="1" latinLnBrk="0" hangingPunct="1">
        <a:lnSpc>
          <a:spcPct val="90000"/>
        </a:lnSpc>
        <a:spcBef>
          <a:spcPts val="1800"/>
        </a:spcBef>
        <a:buFont typeface="Arial" panose="020B0604020202020204" pitchFamily="34" charset="0"/>
        <a:buChar char="•"/>
        <a:defRPr sz="4800" kern="1200">
          <a:solidFill>
            <a:schemeClr val="tx1"/>
          </a:solidFill>
          <a:latin typeface="+mn-lt"/>
          <a:ea typeface="+mn-ea"/>
          <a:cs typeface="+mn-cs"/>
        </a:defRPr>
      </a:lvl5pPr>
      <a:lvl6pPr marL="905256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6pPr>
      <a:lvl7pPr marL="1069848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7pPr>
      <a:lvl8pPr marL="1234440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8pPr>
      <a:lvl9pPr marL="139903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9pPr>
    </p:bodyStyle>
    <p:otherStyle>
      <a:defPPr>
        <a:defRPr lang="en-US"/>
      </a:defPPr>
      <a:lvl1pPr marL="0" algn="l" defTabSz="3291840" rtl="0" eaLnBrk="1" latinLnBrk="0" hangingPunct="1">
        <a:defRPr sz="6480" kern="1200">
          <a:solidFill>
            <a:schemeClr val="tx1"/>
          </a:solidFill>
          <a:latin typeface="+mn-lt"/>
          <a:ea typeface="+mn-ea"/>
          <a:cs typeface="+mn-cs"/>
        </a:defRPr>
      </a:lvl1pPr>
      <a:lvl2pPr marL="1645920" algn="l" defTabSz="3291840" rtl="0" eaLnBrk="1" latinLnBrk="0" hangingPunct="1">
        <a:defRPr sz="6480" kern="1200">
          <a:solidFill>
            <a:schemeClr val="tx1"/>
          </a:solidFill>
          <a:latin typeface="+mn-lt"/>
          <a:ea typeface="+mn-ea"/>
          <a:cs typeface="+mn-cs"/>
        </a:defRPr>
      </a:lvl2pPr>
      <a:lvl3pPr marL="3291840" algn="l" defTabSz="3291840" rtl="0" eaLnBrk="1" latinLnBrk="0" hangingPunct="1">
        <a:defRPr sz="6480" kern="1200">
          <a:solidFill>
            <a:schemeClr val="tx1"/>
          </a:solidFill>
          <a:latin typeface="+mn-lt"/>
          <a:ea typeface="+mn-ea"/>
          <a:cs typeface="+mn-cs"/>
        </a:defRPr>
      </a:lvl3pPr>
      <a:lvl4pPr marL="4937760" algn="l" defTabSz="3291840" rtl="0" eaLnBrk="1" latinLnBrk="0" hangingPunct="1">
        <a:defRPr sz="6480" kern="1200">
          <a:solidFill>
            <a:schemeClr val="tx1"/>
          </a:solidFill>
          <a:latin typeface="+mn-lt"/>
          <a:ea typeface="+mn-ea"/>
          <a:cs typeface="+mn-cs"/>
        </a:defRPr>
      </a:lvl4pPr>
      <a:lvl5pPr marL="6583680" algn="l" defTabSz="3291840" rtl="0" eaLnBrk="1" latinLnBrk="0" hangingPunct="1">
        <a:defRPr sz="6480" kern="1200">
          <a:solidFill>
            <a:schemeClr val="tx1"/>
          </a:solidFill>
          <a:latin typeface="+mn-lt"/>
          <a:ea typeface="+mn-ea"/>
          <a:cs typeface="+mn-cs"/>
        </a:defRPr>
      </a:lvl5pPr>
      <a:lvl6pPr marL="8229600" algn="l" defTabSz="3291840" rtl="0" eaLnBrk="1" latinLnBrk="0" hangingPunct="1">
        <a:defRPr sz="6480" kern="1200">
          <a:solidFill>
            <a:schemeClr val="tx1"/>
          </a:solidFill>
          <a:latin typeface="+mn-lt"/>
          <a:ea typeface="+mn-ea"/>
          <a:cs typeface="+mn-cs"/>
        </a:defRPr>
      </a:lvl6pPr>
      <a:lvl7pPr marL="9875520" algn="l" defTabSz="3291840" rtl="0" eaLnBrk="1" latinLnBrk="0" hangingPunct="1">
        <a:defRPr sz="6480" kern="1200">
          <a:solidFill>
            <a:schemeClr val="tx1"/>
          </a:solidFill>
          <a:latin typeface="+mn-lt"/>
          <a:ea typeface="+mn-ea"/>
          <a:cs typeface="+mn-cs"/>
        </a:defRPr>
      </a:lvl7pPr>
      <a:lvl8pPr marL="11521440" algn="l" defTabSz="3291840" rtl="0" eaLnBrk="1" latinLnBrk="0" hangingPunct="1">
        <a:defRPr sz="6480" kern="1200">
          <a:solidFill>
            <a:schemeClr val="tx1"/>
          </a:solidFill>
          <a:latin typeface="+mn-lt"/>
          <a:ea typeface="+mn-ea"/>
          <a:cs typeface="+mn-cs"/>
        </a:defRPr>
      </a:lvl8pPr>
      <a:lvl9pPr marL="13167360" algn="l" defTabSz="3291840" rtl="0" eaLnBrk="1" latinLnBrk="0" hangingPunct="1">
        <a:defRPr sz="64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jpeg"/><Relationship Id="rId18" Type="http://schemas.openxmlformats.org/officeDocument/2006/relationships/image" Target="../media/image19.jpeg"/><Relationship Id="rId3" Type="http://schemas.openxmlformats.org/officeDocument/2006/relationships/image" Target="../media/image4.jpeg"/><Relationship Id="rId21" Type="http://schemas.openxmlformats.org/officeDocument/2006/relationships/image" Target="../media/image22.png"/><Relationship Id="rId7" Type="http://schemas.openxmlformats.org/officeDocument/2006/relationships/image" Target="../media/image8.png"/><Relationship Id="rId12" Type="http://schemas.openxmlformats.org/officeDocument/2006/relationships/image" Target="../media/image13.svg"/><Relationship Id="rId17" Type="http://schemas.openxmlformats.org/officeDocument/2006/relationships/image" Target="../media/image18.jpeg"/><Relationship Id="rId2" Type="http://schemas.openxmlformats.org/officeDocument/2006/relationships/image" Target="../media/image3.png"/><Relationship Id="rId16" Type="http://schemas.openxmlformats.org/officeDocument/2006/relationships/image" Target="../media/image17.jpeg"/><Relationship Id="rId20" Type="http://schemas.openxmlformats.org/officeDocument/2006/relationships/image" Target="../media/image21.png"/><Relationship Id="rId1" Type="http://schemas.openxmlformats.org/officeDocument/2006/relationships/slideLayout" Target="../slideLayouts/slideLayout1.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5" Type="http://schemas.openxmlformats.org/officeDocument/2006/relationships/image" Target="../media/image16.png"/><Relationship Id="rId10" Type="http://schemas.openxmlformats.org/officeDocument/2006/relationships/image" Target="../media/image11.svg"/><Relationship Id="rId19" Type="http://schemas.openxmlformats.org/officeDocument/2006/relationships/image" Target="../media/image20.jpeg"/><Relationship Id="rId4" Type="http://schemas.openxmlformats.org/officeDocument/2006/relationships/image" Target="../media/image5.jpeg"/><Relationship Id="rId9" Type="http://schemas.openxmlformats.org/officeDocument/2006/relationships/image" Target="../media/image10.png"/><Relationship Id="rId14" Type="http://schemas.openxmlformats.org/officeDocument/2006/relationships/image" Target="../media/image15.png"/><Relationship Id="rId22"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122"/>
          <p:cNvSpPr txBox="1">
            <a:spLocks noChangeArrowheads="1"/>
          </p:cNvSpPr>
          <p:nvPr/>
        </p:nvSpPr>
        <p:spPr bwMode="auto">
          <a:xfrm>
            <a:off x="8229600" y="646330"/>
            <a:ext cx="27432000" cy="1615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37" tIns="342842" rIns="137137" bIns="342842" anchor="ctr" anchorCtr="0">
            <a:spAutoFit/>
          </a:bodyPr>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r>
              <a:rPr lang="en-US" sz="6000" b="0" dirty="0">
                <a:solidFill>
                  <a:schemeClr val="bg1"/>
                </a:solidFill>
                <a:effectLst/>
                <a:latin typeface="Avenir Next LT Pro regular"/>
              </a:rPr>
              <a:t>Shore Station Monitoring to Explore Coastal Ecosystem Response to California Wildfires</a:t>
            </a:r>
            <a:endParaRPr lang="en-US" sz="7200" b="1" dirty="0">
              <a:solidFill>
                <a:schemeClr val="bg1"/>
              </a:solidFill>
              <a:latin typeface="+mn-lt"/>
            </a:endParaRPr>
          </a:p>
        </p:txBody>
      </p:sp>
      <p:sp>
        <p:nvSpPr>
          <p:cNvPr id="5" name="Text Box 123"/>
          <p:cNvSpPr txBox="1">
            <a:spLocks noChangeArrowheads="1"/>
          </p:cNvSpPr>
          <p:nvPr/>
        </p:nvSpPr>
        <p:spPr bwMode="auto">
          <a:xfrm>
            <a:off x="8229600" y="2400300"/>
            <a:ext cx="27432000" cy="171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37137" tIns="137137" rIns="137137" bIns="137137" anchor="ctr" anchorCtr="0"/>
          <a:lstStyle>
            <a:lvl1pPr defTabSz="4389438" eaLnBrk="0" hangingPunct="0">
              <a:defRPr sz="2200">
                <a:solidFill>
                  <a:schemeClr val="tx1"/>
                </a:solidFill>
                <a:latin typeface="Arial" charset="0"/>
              </a:defRPr>
            </a:lvl1pPr>
            <a:lvl2pPr marL="742950" indent="-285750" defTabSz="4389438" eaLnBrk="0" hangingPunct="0">
              <a:defRPr sz="2200">
                <a:solidFill>
                  <a:schemeClr val="tx1"/>
                </a:solidFill>
                <a:latin typeface="Arial" charset="0"/>
              </a:defRPr>
            </a:lvl2pPr>
            <a:lvl3pPr marL="1143000" indent="-228600" defTabSz="4389438" eaLnBrk="0" hangingPunct="0">
              <a:defRPr sz="2200">
                <a:solidFill>
                  <a:schemeClr val="tx1"/>
                </a:solidFill>
                <a:latin typeface="Arial" charset="0"/>
              </a:defRPr>
            </a:lvl3pPr>
            <a:lvl4pPr marL="1600200" indent="-228600" defTabSz="4389438" eaLnBrk="0" hangingPunct="0">
              <a:defRPr sz="2200">
                <a:solidFill>
                  <a:schemeClr val="tx1"/>
                </a:solidFill>
                <a:latin typeface="Arial" charset="0"/>
              </a:defRPr>
            </a:lvl4pPr>
            <a:lvl5pPr marL="2057400" indent="-228600" defTabSz="4389438" eaLnBrk="0" hangingPunct="0">
              <a:defRPr sz="2200">
                <a:solidFill>
                  <a:schemeClr val="tx1"/>
                </a:solidFill>
                <a:latin typeface="Arial" charset="0"/>
              </a:defRPr>
            </a:lvl5pPr>
            <a:lvl6pPr marL="2514600" indent="-228600" defTabSz="4389438" eaLnBrk="0" fontAlgn="base" hangingPunct="0">
              <a:spcBef>
                <a:spcPct val="0"/>
              </a:spcBef>
              <a:spcAft>
                <a:spcPct val="0"/>
              </a:spcAft>
              <a:defRPr sz="2200">
                <a:solidFill>
                  <a:schemeClr val="tx1"/>
                </a:solidFill>
                <a:latin typeface="Arial" charset="0"/>
              </a:defRPr>
            </a:lvl6pPr>
            <a:lvl7pPr marL="2971800" indent="-228600" defTabSz="4389438" eaLnBrk="0" fontAlgn="base" hangingPunct="0">
              <a:spcBef>
                <a:spcPct val="0"/>
              </a:spcBef>
              <a:spcAft>
                <a:spcPct val="0"/>
              </a:spcAft>
              <a:defRPr sz="2200">
                <a:solidFill>
                  <a:schemeClr val="tx1"/>
                </a:solidFill>
                <a:latin typeface="Arial" charset="0"/>
              </a:defRPr>
            </a:lvl7pPr>
            <a:lvl8pPr marL="3429000" indent="-228600" defTabSz="4389438" eaLnBrk="0" fontAlgn="base" hangingPunct="0">
              <a:spcBef>
                <a:spcPct val="0"/>
              </a:spcBef>
              <a:spcAft>
                <a:spcPct val="0"/>
              </a:spcAft>
              <a:defRPr sz="2200">
                <a:solidFill>
                  <a:schemeClr val="tx1"/>
                </a:solidFill>
                <a:latin typeface="Arial" charset="0"/>
              </a:defRPr>
            </a:lvl8pPr>
            <a:lvl9pPr marL="3886200" indent="-228600" defTabSz="4389438" eaLnBrk="0" fontAlgn="base" hangingPunct="0">
              <a:spcBef>
                <a:spcPct val="0"/>
              </a:spcBef>
              <a:spcAft>
                <a:spcPct val="0"/>
              </a:spcAft>
              <a:defRPr sz="2200">
                <a:solidFill>
                  <a:schemeClr val="tx1"/>
                </a:solidFill>
                <a:latin typeface="Arial" charset="0"/>
              </a:defRPr>
            </a:lvl9pPr>
          </a:lstStyle>
          <a:p>
            <a:pPr algn="ctr" eaLnBrk="1" hangingPunct="1"/>
            <a:r>
              <a:rPr lang="en-US" sz="4000" dirty="0">
                <a:solidFill>
                  <a:schemeClr val="bg1"/>
                </a:solidFill>
                <a:latin typeface="+mn-lt"/>
              </a:rPr>
              <a:t>Dante Capone </a:t>
            </a:r>
            <a:r>
              <a:rPr lang="en-US" sz="4000" baseline="30000" dirty="0">
                <a:solidFill>
                  <a:schemeClr val="bg1"/>
                </a:solidFill>
                <a:latin typeface="+mn-lt"/>
              </a:rPr>
              <a:t>1</a:t>
            </a:r>
            <a:r>
              <a:rPr lang="en-US" sz="4000" dirty="0">
                <a:solidFill>
                  <a:schemeClr val="bg1"/>
                </a:solidFill>
                <a:latin typeface="+mn-lt"/>
              </a:rPr>
              <a:t>; Patrick Daniel</a:t>
            </a:r>
            <a:r>
              <a:rPr lang="en-US" sz="4000" baseline="30000" dirty="0">
                <a:solidFill>
                  <a:schemeClr val="bg1"/>
                </a:solidFill>
                <a:latin typeface="+mn-lt"/>
              </a:rPr>
              <a:t>2</a:t>
            </a:r>
            <a:r>
              <a:rPr lang="en-US" sz="4000" dirty="0">
                <a:solidFill>
                  <a:schemeClr val="bg1"/>
                </a:solidFill>
                <a:latin typeface="+mn-lt"/>
              </a:rPr>
              <a:t>; Raphael Kudela</a:t>
            </a:r>
            <a:r>
              <a:rPr lang="en-US" sz="4000" baseline="30000" dirty="0">
                <a:solidFill>
                  <a:schemeClr val="bg1"/>
                </a:solidFill>
                <a:latin typeface="+mn-lt"/>
              </a:rPr>
              <a:t>2,</a:t>
            </a:r>
            <a:r>
              <a:rPr lang="en-US" sz="4000" dirty="0">
                <a:solidFill>
                  <a:schemeClr val="bg1"/>
                </a:solidFill>
                <a:latin typeface="+mn-lt"/>
              </a:rPr>
              <a:t> Andrew Barton</a:t>
            </a:r>
            <a:r>
              <a:rPr lang="en-US" sz="4000" baseline="30000" dirty="0">
                <a:solidFill>
                  <a:schemeClr val="bg1"/>
                </a:solidFill>
                <a:latin typeface="+mn-lt"/>
              </a:rPr>
              <a:t>1, </a:t>
            </a:r>
            <a:r>
              <a:rPr lang="en-US" sz="4000" dirty="0">
                <a:solidFill>
                  <a:schemeClr val="bg1"/>
                </a:solidFill>
                <a:latin typeface="+mn-lt"/>
              </a:rPr>
              <a:t>Moira D</a:t>
            </a:r>
            <a:r>
              <a:rPr lang="en-US" sz="4000" b="0" i="0" dirty="0">
                <a:solidFill>
                  <a:schemeClr val="bg1"/>
                </a:solidFill>
                <a:effectLst/>
                <a:latin typeface="+mn-lt"/>
              </a:rPr>
              <a:t>é</a:t>
            </a:r>
            <a:r>
              <a:rPr lang="en-US" sz="4000" dirty="0">
                <a:solidFill>
                  <a:schemeClr val="bg1"/>
                </a:solidFill>
                <a:latin typeface="+mn-lt"/>
              </a:rPr>
              <a:t>cima</a:t>
            </a:r>
            <a:r>
              <a:rPr lang="en-US" sz="4000" baseline="30000" dirty="0">
                <a:solidFill>
                  <a:schemeClr val="bg1"/>
                </a:solidFill>
                <a:latin typeface="+mn-lt"/>
              </a:rPr>
              <a:t>1</a:t>
            </a:r>
          </a:p>
          <a:p>
            <a:pPr algn="ctr" eaLnBrk="1" hangingPunct="1"/>
            <a:r>
              <a:rPr lang="en-US" sz="4000" baseline="30000" dirty="0">
                <a:solidFill>
                  <a:schemeClr val="bg1"/>
                </a:solidFill>
                <a:latin typeface="+mn-lt"/>
              </a:rPr>
              <a:t>1</a:t>
            </a:r>
            <a:r>
              <a:rPr lang="en-US" sz="4000" dirty="0">
                <a:solidFill>
                  <a:schemeClr val="bg1"/>
                </a:solidFill>
                <a:latin typeface="+mn-lt"/>
              </a:rPr>
              <a:t>Scripps Institution of Oceanography, </a:t>
            </a:r>
            <a:r>
              <a:rPr lang="en-US" sz="4000" baseline="30000" dirty="0">
                <a:solidFill>
                  <a:schemeClr val="bg1"/>
                </a:solidFill>
                <a:latin typeface="+mn-lt"/>
              </a:rPr>
              <a:t>2</a:t>
            </a:r>
            <a:r>
              <a:rPr lang="en-US" sz="4000" dirty="0">
                <a:solidFill>
                  <a:schemeClr val="bg1"/>
                </a:solidFill>
                <a:latin typeface="+mn-lt"/>
              </a:rPr>
              <a:t>University of California, Santa Cruz</a:t>
            </a:r>
          </a:p>
        </p:txBody>
      </p:sp>
      <p:sp>
        <p:nvSpPr>
          <p:cNvPr id="24" name="TextBox 23"/>
          <p:cNvSpPr txBox="1"/>
          <p:nvPr/>
        </p:nvSpPr>
        <p:spPr>
          <a:xfrm>
            <a:off x="1706881" y="30038039"/>
            <a:ext cx="12923519" cy="2223674"/>
          </a:xfrm>
          <a:prstGeom prst="rect">
            <a:avLst/>
          </a:prstGeom>
          <a:noFill/>
        </p:spPr>
        <p:txBody>
          <a:bodyPr wrap="square" lIns="68568" tIns="34284" rIns="68568" bIns="34284" rtlCol="0">
            <a:spAutoFit/>
          </a:bodyPr>
          <a:lstStyle/>
          <a:p>
            <a:r>
              <a:rPr lang="en-US" sz="2800" dirty="0"/>
              <a:t>Dante Capone</a:t>
            </a:r>
          </a:p>
          <a:p>
            <a:r>
              <a:rPr lang="en-US" sz="2800" dirty="0"/>
              <a:t>[organization]</a:t>
            </a:r>
          </a:p>
          <a:p>
            <a:r>
              <a:rPr lang="en-US" sz="2800" dirty="0"/>
              <a:t>[address]</a:t>
            </a:r>
          </a:p>
          <a:p>
            <a:r>
              <a:rPr lang="en-US" sz="2800" dirty="0"/>
              <a:t>[email]</a:t>
            </a:r>
          </a:p>
          <a:p>
            <a:r>
              <a:rPr lang="en-US" sz="2800" dirty="0"/>
              <a:t>[phone]</a:t>
            </a:r>
          </a:p>
        </p:txBody>
      </p:sp>
      <p:sp>
        <p:nvSpPr>
          <p:cNvPr id="25" name="TextBox 24"/>
          <p:cNvSpPr txBox="1"/>
          <p:nvPr/>
        </p:nvSpPr>
        <p:spPr>
          <a:xfrm>
            <a:off x="1706880" y="29146502"/>
            <a:ext cx="1937494" cy="746346"/>
          </a:xfrm>
          <a:prstGeom prst="rect">
            <a:avLst/>
          </a:prstGeom>
          <a:noFill/>
        </p:spPr>
        <p:txBody>
          <a:bodyPr wrap="none" lIns="68568" tIns="34284" rIns="68568" bIns="34284" rtlCol="0">
            <a:spAutoFit/>
          </a:bodyPr>
          <a:lstStyle/>
          <a:p>
            <a:r>
              <a:rPr lang="en-US" sz="4400" b="1" dirty="0"/>
              <a:t>Contact</a:t>
            </a:r>
          </a:p>
        </p:txBody>
      </p:sp>
      <p:sp>
        <p:nvSpPr>
          <p:cNvPr id="26" name="TextBox 25"/>
          <p:cNvSpPr txBox="1"/>
          <p:nvPr/>
        </p:nvSpPr>
        <p:spPr>
          <a:xfrm>
            <a:off x="21945600" y="30038039"/>
            <a:ext cx="19507200" cy="2600688"/>
          </a:xfrm>
          <a:prstGeom prst="rect">
            <a:avLst/>
          </a:prstGeom>
          <a:noFill/>
        </p:spPr>
        <p:txBody>
          <a:bodyPr wrap="square" lIns="68568" tIns="68568" rIns="68568" bIns="68568" numCol="1" spcCol="342842" rtlCol="0">
            <a:spAutoFit/>
          </a:bodyPr>
          <a:lstStyle/>
          <a:p>
            <a:pPr marL="342842" indent="-342842">
              <a:buFont typeface="+mj-lt"/>
              <a:buAutoNum type="arabicPeriod"/>
            </a:pPr>
            <a:r>
              <a:rPr lang="en-US" sz="1600" dirty="0"/>
              <a:t> </a:t>
            </a:r>
          </a:p>
          <a:p>
            <a:pPr marL="342842" indent="-342842">
              <a:buFont typeface="+mj-lt"/>
              <a:buAutoNum type="arabicPeriod"/>
            </a:pPr>
            <a:r>
              <a:rPr lang="en-US" sz="1600" dirty="0"/>
              <a:t> </a:t>
            </a:r>
          </a:p>
          <a:p>
            <a:pPr marL="342842" indent="-342842">
              <a:buFont typeface="+mj-lt"/>
              <a:buAutoNum type="arabicPeriod"/>
            </a:pPr>
            <a:r>
              <a:rPr lang="en-US" sz="1600" dirty="0"/>
              <a:t> </a:t>
            </a:r>
          </a:p>
          <a:p>
            <a:pPr marL="342842" indent="-342842">
              <a:buFont typeface="+mj-lt"/>
              <a:buAutoNum type="arabicPeriod"/>
            </a:pPr>
            <a:r>
              <a:rPr lang="en-US" sz="1600" dirty="0"/>
              <a:t> </a:t>
            </a:r>
          </a:p>
          <a:p>
            <a:pPr marL="342842" indent="-342842">
              <a:buFont typeface="+mj-lt"/>
              <a:buAutoNum type="arabicPeriod"/>
            </a:pPr>
            <a:r>
              <a:rPr lang="en-US" sz="1600" dirty="0"/>
              <a:t> </a:t>
            </a:r>
          </a:p>
          <a:p>
            <a:pPr marL="342842" indent="-342842">
              <a:buFont typeface="+mj-lt"/>
              <a:buAutoNum type="arabicPeriod"/>
            </a:pPr>
            <a:r>
              <a:rPr lang="en-US" sz="1600" dirty="0"/>
              <a:t> </a:t>
            </a:r>
          </a:p>
          <a:p>
            <a:pPr marL="342842" indent="-342842">
              <a:buFont typeface="+mj-lt"/>
              <a:buAutoNum type="arabicPeriod"/>
            </a:pPr>
            <a:r>
              <a:rPr lang="en-US" sz="1600" dirty="0"/>
              <a:t> </a:t>
            </a:r>
          </a:p>
          <a:p>
            <a:pPr marL="342842" indent="-342842">
              <a:buFont typeface="+mj-lt"/>
              <a:buAutoNum type="arabicPeriod"/>
            </a:pPr>
            <a:r>
              <a:rPr lang="en-US" sz="1600" dirty="0"/>
              <a:t> </a:t>
            </a:r>
          </a:p>
          <a:p>
            <a:pPr marL="342842" indent="-342842">
              <a:buFont typeface="+mj-lt"/>
              <a:buAutoNum type="arabicPeriod"/>
            </a:pPr>
            <a:r>
              <a:rPr lang="en-US" sz="1600" dirty="0"/>
              <a:t> </a:t>
            </a:r>
          </a:p>
          <a:p>
            <a:pPr marL="342842" indent="-342842">
              <a:buFont typeface="+mj-lt"/>
              <a:buAutoNum type="arabicPeriod"/>
            </a:pPr>
            <a:r>
              <a:rPr lang="en-US" sz="1600" dirty="0"/>
              <a:t>  </a:t>
            </a:r>
          </a:p>
        </p:txBody>
      </p:sp>
      <p:sp>
        <p:nvSpPr>
          <p:cNvPr id="27" name="TextBox 26"/>
          <p:cNvSpPr txBox="1"/>
          <p:nvPr/>
        </p:nvSpPr>
        <p:spPr>
          <a:xfrm>
            <a:off x="21945603" y="29146502"/>
            <a:ext cx="2703473" cy="746346"/>
          </a:xfrm>
          <a:prstGeom prst="rect">
            <a:avLst/>
          </a:prstGeom>
          <a:noFill/>
        </p:spPr>
        <p:txBody>
          <a:bodyPr wrap="none" lIns="68568" tIns="34284" rIns="68568" bIns="34284" rtlCol="0">
            <a:spAutoFit/>
          </a:bodyPr>
          <a:lstStyle/>
          <a:p>
            <a:r>
              <a:rPr lang="en-US" sz="4400" b="1" dirty="0"/>
              <a:t>References</a:t>
            </a:r>
          </a:p>
        </p:txBody>
      </p:sp>
      <p:sp>
        <p:nvSpPr>
          <p:cNvPr id="10" name="Text Box 189"/>
          <p:cNvSpPr txBox="1">
            <a:spLocks noChangeArrowheads="1"/>
          </p:cNvSpPr>
          <p:nvPr/>
        </p:nvSpPr>
        <p:spPr bwMode="auto">
          <a:xfrm>
            <a:off x="1463040" y="5486400"/>
            <a:ext cx="8725351" cy="5509154"/>
          </a:xfrm>
          <a:prstGeom prst="rect">
            <a:avLst/>
          </a:prstGeom>
          <a:solidFill>
            <a:schemeClr val="bg1"/>
          </a:solidFill>
          <a:ln w="12700">
            <a:solidFill>
              <a:schemeClr val="accent1">
                <a:lumMod val="75000"/>
              </a:schemeClr>
            </a:solidFill>
          </a:ln>
          <a:effectLst/>
        </p:spPr>
        <p:txBody>
          <a:bodyPr wrap="square" lIns="137137" tIns="137137" rIns="137137" bIns="137137">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r>
              <a:rPr lang="en-US" sz="2000" dirty="0">
                <a:latin typeface="Calibri" pitchFamily="34" charset="0"/>
              </a:rPr>
              <a:t>California has experienced a dramatic increase in wildfire frequency and severity in recent decades due to anthropogenic activity and climate change. The 2020 CZU Lightning Complex fires shrouded the Monterey Bay in massive smoke plumes from August through October, with obvious impacts on air quality on human health. Previous studies have linked megafire smoke plumes with phytoplankton blooms through remote sensing and modeling measurements; however observations of wildfire impacts on the ocean are notoriously difficult to collect due to challenges in prediction and preparation. Monitoring networks such as the California Ocean Observing System circumvent this challenge through continuous monitoring, which both captures extreme events and places them into a historical context.</a:t>
            </a:r>
          </a:p>
          <a:p>
            <a:pPr eaLnBrk="1" hangingPunct="1"/>
            <a:r>
              <a:rPr lang="en-US" sz="2000" dirty="0">
                <a:latin typeface="Calibri" pitchFamily="34" charset="0"/>
              </a:rPr>
              <a:t>Here, we leverage data from multiple continuous sampling platforms including the Shore Station Network, </a:t>
            </a:r>
            <a:r>
              <a:rPr lang="en-US" sz="2000" dirty="0" err="1">
                <a:latin typeface="Calibri" pitchFamily="34" charset="0"/>
              </a:rPr>
              <a:t>Aeronet</a:t>
            </a:r>
            <a:r>
              <a:rPr lang="en-US" sz="2000" dirty="0">
                <a:latin typeface="Calibri" pitchFamily="34" charset="0"/>
              </a:rPr>
              <a:t>, satellite measurements of chlorophyll, chemical model reanalysis data, and other environmental forcings such as riverine outflow. We use classified data from the Imaging Flow </a:t>
            </a:r>
            <a:r>
              <a:rPr lang="en-US" sz="2000" dirty="0" err="1">
                <a:latin typeface="Calibri" pitchFamily="34" charset="0"/>
              </a:rPr>
              <a:t>Cytobot</a:t>
            </a:r>
            <a:r>
              <a:rPr lang="en-US" sz="2000" dirty="0">
                <a:latin typeface="Calibri" pitchFamily="34" charset="0"/>
              </a:rPr>
              <a:t> time series off the Santa Cruz Wharf to examine whether the 2020 fires impacted phytoplankton abundance and community composition.</a:t>
            </a:r>
          </a:p>
        </p:txBody>
      </p:sp>
      <p:sp>
        <p:nvSpPr>
          <p:cNvPr id="32" name="Rectangle 31"/>
          <p:cNvSpPr/>
          <p:nvPr/>
        </p:nvSpPr>
        <p:spPr>
          <a:xfrm>
            <a:off x="1463040" y="4754880"/>
            <a:ext cx="13167360" cy="731520"/>
          </a:xfrm>
          <a:prstGeom prst="rect">
            <a:avLst/>
          </a:prstGeom>
          <a:solidFill>
            <a:schemeClr val="accent1">
              <a:lumMod val="75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4400" b="1" dirty="0">
                <a:solidFill>
                  <a:schemeClr val="bg1"/>
                </a:solidFill>
              </a:rPr>
              <a:t>Background</a:t>
            </a:r>
          </a:p>
        </p:txBody>
      </p:sp>
      <p:grpSp>
        <p:nvGrpSpPr>
          <p:cNvPr id="3" name="Group 2">
            <a:extLst>
              <a:ext uri="{FF2B5EF4-FFF2-40B4-BE49-F238E27FC236}">
                <a16:creationId xmlns:a16="http://schemas.microsoft.com/office/drawing/2014/main" id="{84C6DFB6-FA02-407B-B04F-034E2E7A3D84}"/>
              </a:ext>
            </a:extLst>
          </p:cNvPr>
          <p:cNvGrpSpPr/>
          <p:nvPr/>
        </p:nvGrpSpPr>
        <p:grpSpPr>
          <a:xfrm>
            <a:off x="29254938" y="4697099"/>
            <a:ext cx="13167360" cy="4279137"/>
            <a:chOff x="29260800" y="12344400"/>
            <a:chExt cx="13167360" cy="5639249"/>
          </a:xfrm>
        </p:grpSpPr>
        <p:sp>
          <p:nvSpPr>
            <p:cNvPr id="12" name="Text Box 191"/>
            <p:cNvSpPr txBox="1">
              <a:spLocks noChangeArrowheads="1"/>
            </p:cNvSpPr>
            <p:nvPr/>
          </p:nvSpPr>
          <p:spPr bwMode="auto">
            <a:xfrm>
              <a:off x="29260800" y="13075920"/>
              <a:ext cx="13167360" cy="4907729"/>
            </a:xfrm>
            <a:prstGeom prst="rect">
              <a:avLst/>
            </a:prstGeom>
            <a:solidFill>
              <a:schemeClr val="bg1"/>
            </a:solidFill>
            <a:ln w="12700">
              <a:solidFill>
                <a:schemeClr val="accent1">
                  <a:lumMod val="75000"/>
                </a:schemeClr>
              </a:solidFill>
            </a:ln>
            <a:effectLst/>
          </p:spPr>
          <p:txBody>
            <a:bodyPr lIns="137137" tIns="137137" rIns="137137" bIns="137137">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marL="457200" indent="-457200" eaLnBrk="1" hangingPunct="1">
                <a:buFont typeface="Arial" panose="020B0604020202020204" pitchFamily="34" charset="0"/>
                <a:buChar char="•"/>
              </a:pPr>
              <a:r>
                <a:rPr lang="en-US" sz="3200" dirty="0">
                  <a:latin typeface="+mn-lt"/>
                </a:rPr>
                <a:t>Exploration of alternative drivers:</a:t>
              </a:r>
            </a:p>
            <a:p>
              <a:pPr marL="1200150" lvl="1" indent="-457200" eaLnBrk="1" hangingPunct="1">
                <a:buFont typeface="Arial" panose="020B0604020202020204" pitchFamily="34" charset="0"/>
                <a:buChar char="•"/>
              </a:pPr>
              <a:endParaRPr lang="en-US" sz="3200" dirty="0">
                <a:latin typeface="+mn-lt"/>
              </a:endParaRPr>
            </a:p>
            <a:p>
              <a:pPr marL="1200150" lvl="1" indent="-457200" eaLnBrk="1" hangingPunct="1">
                <a:buFont typeface="Arial" panose="020B0604020202020204" pitchFamily="34" charset="0"/>
                <a:buChar char="•"/>
              </a:pPr>
              <a:r>
                <a:rPr lang="en-US" sz="3200" dirty="0">
                  <a:latin typeface="+mn-lt"/>
                </a:rPr>
                <a:t>Slight negative temperature anomaly but no measured increase in nutrients</a:t>
              </a:r>
            </a:p>
            <a:p>
              <a:pPr marL="457200" indent="-457200" eaLnBrk="1" hangingPunct="1">
                <a:buFont typeface="Arial" panose="020B0604020202020204" pitchFamily="34" charset="0"/>
                <a:buChar char="•"/>
              </a:pPr>
              <a:r>
                <a:rPr lang="en-US" sz="3200" dirty="0">
                  <a:latin typeface="+mn-lt"/>
                </a:rPr>
                <a:t>Possible mechanisms</a:t>
              </a:r>
            </a:p>
            <a:p>
              <a:pPr marL="457200" indent="-457200" eaLnBrk="1" hangingPunct="1">
                <a:buFont typeface="Arial" panose="020B0604020202020204" pitchFamily="34" charset="0"/>
                <a:buChar char="•"/>
              </a:pPr>
              <a:r>
                <a:rPr lang="en-US" sz="3200" dirty="0">
                  <a:latin typeface="+mn-lt"/>
                </a:rPr>
                <a:t>Why diatoms?</a:t>
              </a:r>
            </a:p>
            <a:p>
              <a:pPr marL="457200" indent="-457200" eaLnBrk="1" hangingPunct="1">
                <a:buFont typeface="Arial" panose="020B0604020202020204" pitchFamily="34" charset="0"/>
                <a:buChar char="•"/>
              </a:pPr>
              <a:endParaRPr lang="en-US" sz="3200" dirty="0">
                <a:latin typeface="+mn-lt"/>
              </a:endParaRPr>
            </a:p>
          </p:txBody>
        </p:sp>
        <p:sp>
          <p:nvSpPr>
            <p:cNvPr id="35" name="Rectangle 34"/>
            <p:cNvSpPr/>
            <p:nvPr/>
          </p:nvSpPr>
          <p:spPr>
            <a:xfrm>
              <a:off x="29260800" y="12344400"/>
              <a:ext cx="13167360" cy="731520"/>
            </a:xfrm>
            <a:prstGeom prst="rect">
              <a:avLst/>
            </a:prstGeom>
            <a:solidFill>
              <a:schemeClr val="accent1">
                <a:lumMod val="75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4400" b="1" dirty="0">
                  <a:solidFill>
                    <a:schemeClr val="bg1"/>
                  </a:solidFill>
                </a:rPr>
                <a:t>Discussion</a:t>
              </a:r>
            </a:p>
          </p:txBody>
        </p:sp>
      </p:grpSp>
      <p:pic>
        <p:nvPicPr>
          <p:cNvPr id="8" name="Picture 7" descr="A graph of different colored lines&#10;&#10;Description automatically generated with medium confidence">
            <a:extLst>
              <a:ext uri="{FF2B5EF4-FFF2-40B4-BE49-F238E27FC236}">
                <a16:creationId xmlns:a16="http://schemas.microsoft.com/office/drawing/2014/main" id="{DF066E77-F6C5-3F89-180A-39B26F2314BC}"/>
              </a:ext>
            </a:extLst>
          </p:cNvPr>
          <p:cNvPicPr>
            <a:picLocks noChangeAspect="1"/>
          </p:cNvPicPr>
          <p:nvPr/>
        </p:nvPicPr>
        <p:blipFill rotWithShape="1">
          <a:blip r:embed="rId2">
            <a:extLst>
              <a:ext uri="{28A0092B-C50C-407E-A947-70E740481C1C}">
                <a14:useLocalDpi xmlns:a14="http://schemas.microsoft.com/office/drawing/2010/main" val="0"/>
              </a:ext>
            </a:extLst>
          </a:blip>
          <a:srcRect l="9029" t="4629" r="7229" b="7152"/>
          <a:stretch/>
        </p:blipFill>
        <p:spPr>
          <a:xfrm>
            <a:off x="29939459" y="14132737"/>
            <a:ext cx="11798317" cy="9321812"/>
          </a:xfrm>
          <a:prstGeom prst="rect">
            <a:avLst/>
          </a:prstGeom>
        </p:spPr>
      </p:pic>
      <p:pic>
        <p:nvPicPr>
          <p:cNvPr id="9" name="Picture 8">
            <a:extLst>
              <a:ext uri="{FF2B5EF4-FFF2-40B4-BE49-F238E27FC236}">
                <a16:creationId xmlns:a16="http://schemas.microsoft.com/office/drawing/2014/main" id="{3A96FC23-F587-B4E1-709A-94CBD5DAB085}"/>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8587" t="15117" r="11032" b="8685"/>
          <a:stretch/>
        </p:blipFill>
        <p:spPr bwMode="auto">
          <a:xfrm>
            <a:off x="10495343" y="5655037"/>
            <a:ext cx="4008116" cy="3607141"/>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a:extLst>
              <a:ext uri="{FF2B5EF4-FFF2-40B4-BE49-F238E27FC236}">
                <a16:creationId xmlns:a16="http://schemas.microsoft.com/office/drawing/2014/main" id="{34948082-A679-1409-11E2-846EBCB2B81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370136" y="9516299"/>
            <a:ext cx="4434598" cy="2958510"/>
          </a:xfrm>
          <a:prstGeom prst="rect">
            <a:avLst/>
          </a:prstGeom>
          <a:noFill/>
          <a:extLst>
            <a:ext uri="{909E8E84-426E-40DD-AFC4-6F175D3DCCD1}">
              <a14:hiddenFill xmlns:a14="http://schemas.microsoft.com/office/drawing/2010/main">
                <a:solidFill>
                  <a:srgbClr val="FFFFFF"/>
                </a:solidFill>
              </a14:hiddenFill>
            </a:ext>
          </a:extLst>
        </p:spPr>
      </p:pic>
      <p:sp>
        <p:nvSpPr>
          <p:cNvPr id="29" name="Rectangle 28">
            <a:extLst>
              <a:ext uri="{FF2B5EF4-FFF2-40B4-BE49-F238E27FC236}">
                <a16:creationId xmlns:a16="http://schemas.microsoft.com/office/drawing/2014/main" id="{09724303-91A4-0029-50D9-D5638B1C7678}"/>
              </a:ext>
            </a:extLst>
          </p:cNvPr>
          <p:cNvSpPr/>
          <p:nvPr/>
        </p:nvSpPr>
        <p:spPr>
          <a:xfrm>
            <a:off x="15135026" y="4740598"/>
            <a:ext cx="13167360" cy="731520"/>
          </a:xfrm>
          <a:prstGeom prst="rect">
            <a:avLst/>
          </a:prstGeom>
          <a:solidFill>
            <a:schemeClr val="accent1">
              <a:lumMod val="75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4400" b="1" dirty="0">
                <a:solidFill>
                  <a:schemeClr val="bg1"/>
                </a:solidFill>
              </a:rPr>
              <a:t>Results</a:t>
            </a:r>
          </a:p>
        </p:txBody>
      </p:sp>
      <p:pic>
        <p:nvPicPr>
          <p:cNvPr id="60" name="Picture 59" descr="A close-up of a graph&#10;&#10;Description automatically generated">
            <a:extLst>
              <a:ext uri="{FF2B5EF4-FFF2-40B4-BE49-F238E27FC236}">
                <a16:creationId xmlns:a16="http://schemas.microsoft.com/office/drawing/2014/main" id="{ECB8EA4D-F2A1-30B3-341A-B3F9A9FA5428}"/>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9139" r="7814"/>
          <a:stretch/>
        </p:blipFill>
        <p:spPr>
          <a:xfrm>
            <a:off x="15734585" y="13796376"/>
            <a:ext cx="8287002" cy="5612005"/>
          </a:xfrm>
          <a:prstGeom prst="rect">
            <a:avLst/>
          </a:prstGeom>
        </p:spPr>
      </p:pic>
      <p:grpSp>
        <p:nvGrpSpPr>
          <p:cNvPr id="62" name="Group 61">
            <a:extLst>
              <a:ext uri="{FF2B5EF4-FFF2-40B4-BE49-F238E27FC236}">
                <a16:creationId xmlns:a16="http://schemas.microsoft.com/office/drawing/2014/main" id="{3BC88E17-005E-6371-5D65-8F216599999E}"/>
              </a:ext>
            </a:extLst>
          </p:cNvPr>
          <p:cNvGrpSpPr/>
          <p:nvPr/>
        </p:nvGrpSpPr>
        <p:grpSpPr>
          <a:xfrm>
            <a:off x="29422690" y="24276064"/>
            <a:ext cx="13167360" cy="2801807"/>
            <a:chOff x="29321027" y="16185992"/>
            <a:chExt cx="13167360" cy="3692352"/>
          </a:xfrm>
        </p:grpSpPr>
        <p:sp>
          <p:nvSpPr>
            <p:cNvPr id="63" name="Text Box 191">
              <a:extLst>
                <a:ext uri="{FF2B5EF4-FFF2-40B4-BE49-F238E27FC236}">
                  <a16:creationId xmlns:a16="http://schemas.microsoft.com/office/drawing/2014/main" id="{CA0476C3-73B0-FB22-F47B-E275295D2D2C}"/>
                </a:ext>
              </a:extLst>
            </p:cNvPr>
            <p:cNvSpPr txBox="1">
              <a:spLocks noChangeArrowheads="1"/>
            </p:cNvSpPr>
            <p:nvPr/>
          </p:nvSpPr>
          <p:spPr bwMode="auto">
            <a:xfrm>
              <a:off x="29321027" y="16917509"/>
              <a:ext cx="13167360" cy="2960835"/>
            </a:xfrm>
            <a:prstGeom prst="rect">
              <a:avLst/>
            </a:prstGeom>
            <a:solidFill>
              <a:schemeClr val="bg1"/>
            </a:solidFill>
            <a:ln w="12700">
              <a:solidFill>
                <a:schemeClr val="accent1">
                  <a:lumMod val="75000"/>
                </a:schemeClr>
              </a:solidFill>
            </a:ln>
            <a:effectLst/>
          </p:spPr>
          <p:txBody>
            <a:bodyPr lIns="137137" tIns="137137" rIns="137137" bIns="137137">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marL="457200" indent="-457200" eaLnBrk="1" hangingPunct="1">
                <a:buFont typeface="Arial" panose="020B0604020202020204" pitchFamily="34" charset="0"/>
                <a:buChar char="•"/>
              </a:pPr>
              <a:r>
                <a:rPr lang="en-US" sz="3200" dirty="0">
                  <a:latin typeface="+mn-lt"/>
                </a:rPr>
                <a:t>Comparative Analysis of other Shore Stations</a:t>
              </a:r>
            </a:p>
            <a:p>
              <a:pPr marL="457200" indent="-457200" eaLnBrk="1" hangingPunct="1">
                <a:buFont typeface="Arial" panose="020B0604020202020204" pitchFamily="34" charset="0"/>
                <a:buChar char="•"/>
              </a:pPr>
              <a:r>
                <a:rPr lang="en-US" sz="3200" dirty="0">
                  <a:latin typeface="+mn-lt"/>
                </a:rPr>
                <a:t>Compare other events</a:t>
              </a:r>
            </a:p>
            <a:p>
              <a:pPr marL="457200" indent="-457200" eaLnBrk="1" hangingPunct="1">
                <a:buFont typeface="Arial" panose="020B0604020202020204" pitchFamily="34" charset="0"/>
                <a:buChar char="•"/>
              </a:pPr>
              <a:r>
                <a:rPr lang="en-US" sz="3200" dirty="0">
                  <a:latin typeface="+mn-lt"/>
                </a:rPr>
                <a:t>Biovolume</a:t>
              </a:r>
            </a:p>
            <a:p>
              <a:pPr marL="457200" indent="-457200" eaLnBrk="1" hangingPunct="1">
                <a:buFont typeface="Arial" panose="020B0604020202020204" pitchFamily="34" charset="0"/>
                <a:buChar char="•"/>
              </a:pPr>
              <a:r>
                <a:rPr lang="en-US" sz="3200" dirty="0">
                  <a:latin typeface="+mn-lt"/>
                </a:rPr>
                <a:t>Extend satellite analysis to large box</a:t>
              </a:r>
            </a:p>
          </p:txBody>
        </p:sp>
        <p:sp>
          <p:nvSpPr>
            <p:cNvPr id="1024" name="Rectangle 1023">
              <a:extLst>
                <a:ext uri="{FF2B5EF4-FFF2-40B4-BE49-F238E27FC236}">
                  <a16:creationId xmlns:a16="http://schemas.microsoft.com/office/drawing/2014/main" id="{9A4B0DFE-10E8-9EFB-7EFC-7611920009D0}"/>
                </a:ext>
              </a:extLst>
            </p:cNvPr>
            <p:cNvSpPr/>
            <p:nvPr/>
          </p:nvSpPr>
          <p:spPr>
            <a:xfrm>
              <a:off x="29321027" y="16185992"/>
              <a:ext cx="13167360" cy="731520"/>
            </a:xfrm>
            <a:prstGeom prst="rect">
              <a:avLst/>
            </a:prstGeom>
            <a:solidFill>
              <a:schemeClr val="accent1">
                <a:lumMod val="75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4400" b="1" dirty="0">
                  <a:solidFill>
                    <a:schemeClr val="bg1"/>
                  </a:solidFill>
                </a:rPr>
                <a:t>Future Work</a:t>
              </a:r>
            </a:p>
          </p:txBody>
        </p:sp>
      </p:grpSp>
      <p:sp>
        <p:nvSpPr>
          <p:cNvPr id="1025" name="Text Box 189">
            <a:extLst>
              <a:ext uri="{FF2B5EF4-FFF2-40B4-BE49-F238E27FC236}">
                <a16:creationId xmlns:a16="http://schemas.microsoft.com/office/drawing/2014/main" id="{F9D84E67-C6B6-C163-9383-AD4A6712677E}"/>
              </a:ext>
            </a:extLst>
          </p:cNvPr>
          <p:cNvSpPr txBox="1">
            <a:spLocks noChangeArrowheads="1"/>
          </p:cNvSpPr>
          <p:nvPr/>
        </p:nvSpPr>
        <p:spPr bwMode="auto">
          <a:xfrm>
            <a:off x="1536370" y="12444133"/>
            <a:ext cx="8099474" cy="4216492"/>
          </a:xfrm>
          <a:prstGeom prst="rect">
            <a:avLst/>
          </a:prstGeom>
          <a:solidFill>
            <a:schemeClr val="bg1"/>
          </a:solidFill>
          <a:ln w="12700">
            <a:solidFill>
              <a:schemeClr val="accent1">
                <a:lumMod val="75000"/>
              </a:schemeClr>
            </a:solidFill>
          </a:ln>
          <a:effectLst/>
        </p:spPr>
        <p:txBody>
          <a:bodyPr wrap="square" lIns="137137" tIns="137137" rIns="137137" bIns="137137">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eaLnBrk="1" hangingPunct="1"/>
            <a:r>
              <a:rPr lang="en-US" sz="3200" b="1" dirty="0">
                <a:latin typeface="Calibri" pitchFamily="34" charset="0"/>
              </a:rPr>
              <a:t>Questions:</a:t>
            </a:r>
          </a:p>
          <a:p>
            <a:pPr eaLnBrk="1" hangingPunct="1"/>
            <a:r>
              <a:rPr lang="en-US" sz="3200" dirty="0">
                <a:latin typeface="Calibri" pitchFamily="34" charset="0"/>
              </a:rPr>
              <a:t>During the 2020 CZU Lightning Complex Fires:</a:t>
            </a:r>
          </a:p>
          <a:p>
            <a:pPr marL="457200" indent="-457200" eaLnBrk="1" hangingPunct="1">
              <a:buFont typeface="Arial" panose="020B0604020202020204" pitchFamily="34" charset="0"/>
              <a:buChar char="•"/>
            </a:pPr>
            <a:r>
              <a:rPr lang="en-US" sz="3200" dirty="0">
                <a:latin typeface="Calibri" pitchFamily="34" charset="0"/>
              </a:rPr>
              <a:t>Did chlorophyll-a display a response?</a:t>
            </a:r>
          </a:p>
          <a:p>
            <a:pPr marL="457200" indent="-457200" eaLnBrk="1" hangingPunct="1">
              <a:buFont typeface="Arial" panose="020B0604020202020204" pitchFamily="34" charset="0"/>
              <a:buChar char="•"/>
            </a:pPr>
            <a:r>
              <a:rPr lang="en-US" sz="3200" dirty="0">
                <a:latin typeface="Calibri" pitchFamily="34" charset="0"/>
              </a:rPr>
              <a:t>Did phytoplankton taxa display anomalous abundances?</a:t>
            </a:r>
          </a:p>
          <a:p>
            <a:pPr marL="457200" indent="-457200" eaLnBrk="1" hangingPunct="1">
              <a:buFont typeface="Arial" panose="020B0604020202020204" pitchFamily="34" charset="0"/>
              <a:buChar char="•"/>
            </a:pPr>
            <a:r>
              <a:rPr lang="en-US" sz="3200" dirty="0">
                <a:latin typeface="Calibri" pitchFamily="34" charset="0"/>
              </a:rPr>
              <a:t>Did phytoplankton community composition significantly change? </a:t>
            </a:r>
          </a:p>
          <a:p>
            <a:pPr marL="457200" indent="-457200" eaLnBrk="1" hangingPunct="1">
              <a:buFont typeface="Arial" panose="020B0604020202020204" pitchFamily="34" charset="0"/>
              <a:buChar char="•"/>
            </a:pPr>
            <a:endParaRPr lang="en-US" sz="3200" dirty="0">
              <a:latin typeface="Calibri" pitchFamily="34" charset="0"/>
            </a:endParaRPr>
          </a:p>
        </p:txBody>
      </p:sp>
      <p:pic>
        <p:nvPicPr>
          <p:cNvPr id="1028" name="Picture 1027" descr="A close-up of a graph&#10;&#10;Description automatically generated">
            <a:extLst>
              <a:ext uri="{FF2B5EF4-FFF2-40B4-BE49-F238E27FC236}">
                <a16:creationId xmlns:a16="http://schemas.microsoft.com/office/drawing/2014/main" id="{B6844C1F-DBA0-14B9-FABD-8FB3209EEB1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955522" y="5655037"/>
            <a:ext cx="10323587" cy="4247330"/>
          </a:xfrm>
          <a:prstGeom prst="rect">
            <a:avLst/>
          </a:prstGeom>
        </p:spPr>
      </p:pic>
      <p:pic>
        <p:nvPicPr>
          <p:cNvPr id="1034" name="Picture 1033" descr="A close-up of a temperature map&#10;&#10;Description automatically generated">
            <a:extLst>
              <a:ext uri="{FF2B5EF4-FFF2-40B4-BE49-F238E27FC236}">
                <a16:creationId xmlns:a16="http://schemas.microsoft.com/office/drawing/2014/main" id="{9E53C233-F842-DE90-F5EF-2D3390158B03}"/>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4232" r="4760" b="2202"/>
          <a:stretch/>
        </p:blipFill>
        <p:spPr>
          <a:xfrm>
            <a:off x="20294815" y="10019918"/>
            <a:ext cx="4430592" cy="3572774"/>
          </a:xfrm>
          <a:prstGeom prst="rect">
            <a:avLst/>
          </a:prstGeom>
        </p:spPr>
      </p:pic>
      <p:grpSp>
        <p:nvGrpSpPr>
          <p:cNvPr id="1052" name="Group 1051">
            <a:extLst>
              <a:ext uri="{FF2B5EF4-FFF2-40B4-BE49-F238E27FC236}">
                <a16:creationId xmlns:a16="http://schemas.microsoft.com/office/drawing/2014/main" id="{73CFC357-071F-7D32-997D-7FA319BF683B}"/>
              </a:ext>
            </a:extLst>
          </p:cNvPr>
          <p:cNvGrpSpPr/>
          <p:nvPr/>
        </p:nvGrpSpPr>
        <p:grpSpPr>
          <a:xfrm>
            <a:off x="1536370" y="16885843"/>
            <a:ext cx="13608686" cy="10764989"/>
            <a:chOff x="1318734" y="15255464"/>
            <a:chExt cx="13608686" cy="10764989"/>
          </a:xfrm>
        </p:grpSpPr>
        <p:grpSp>
          <p:nvGrpSpPr>
            <p:cNvPr id="16" name="Group 15">
              <a:extLst>
                <a:ext uri="{FF2B5EF4-FFF2-40B4-BE49-F238E27FC236}">
                  <a16:creationId xmlns:a16="http://schemas.microsoft.com/office/drawing/2014/main" id="{2843A2A3-45C1-9951-D40F-79222C04A0C3}"/>
                </a:ext>
              </a:extLst>
            </p:cNvPr>
            <p:cNvGrpSpPr/>
            <p:nvPr/>
          </p:nvGrpSpPr>
          <p:grpSpPr>
            <a:xfrm>
              <a:off x="1318734" y="15255464"/>
              <a:ext cx="13311666" cy="10764989"/>
              <a:chOff x="1463040" y="12344400"/>
              <a:chExt cx="13167360" cy="10764989"/>
            </a:xfrm>
          </p:grpSpPr>
          <p:sp>
            <p:nvSpPr>
              <p:cNvPr id="33" name="Rectangle 32"/>
              <p:cNvSpPr/>
              <p:nvPr/>
            </p:nvSpPr>
            <p:spPr>
              <a:xfrm>
                <a:off x="1463040" y="12344400"/>
                <a:ext cx="13167360" cy="731520"/>
              </a:xfrm>
              <a:prstGeom prst="rect">
                <a:avLst/>
              </a:prstGeom>
              <a:solidFill>
                <a:schemeClr val="accent1">
                  <a:lumMod val="75000"/>
                </a:schemeClr>
              </a:solidFill>
              <a:ln w="127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68568" tIns="34284" rIns="68568" bIns="34284" rtlCol="0" anchor="ctr"/>
              <a:lstStyle/>
              <a:p>
                <a:pPr algn="ctr"/>
                <a:r>
                  <a:rPr lang="en-US" sz="4400" b="1" dirty="0">
                    <a:solidFill>
                      <a:schemeClr val="bg1"/>
                    </a:solidFill>
                  </a:rPr>
                  <a:t>Methods</a:t>
                </a:r>
              </a:p>
            </p:txBody>
          </p:sp>
          <p:sp>
            <p:nvSpPr>
              <p:cNvPr id="11" name="Text Box 190"/>
              <p:cNvSpPr txBox="1">
                <a:spLocks noChangeArrowheads="1"/>
              </p:cNvSpPr>
              <p:nvPr/>
            </p:nvSpPr>
            <p:spPr bwMode="auto">
              <a:xfrm>
                <a:off x="1463041" y="13075920"/>
                <a:ext cx="5856087" cy="10033469"/>
              </a:xfrm>
              <a:prstGeom prst="rect">
                <a:avLst/>
              </a:prstGeom>
              <a:solidFill>
                <a:schemeClr val="bg1"/>
              </a:solidFill>
              <a:ln w="12700">
                <a:solidFill>
                  <a:schemeClr val="accent1">
                    <a:lumMod val="75000"/>
                  </a:schemeClr>
                </a:solidFill>
              </a:ln>
              <a:effectLst/>
            </p:spPr>
            <p:txBody>
              <a:bodyPr wrap="square" lIns="137137" tIns="137137" rIns="137137" bIns="137137">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r>
                  <a:rPr lang="en-US" b="1" dirty="0">
                    <a:solidFill>
                      <a:schemeClr val="tx1"/>
                    </a:solidFill>
                  </a:rPr>
                  <a:t>Data Streams</a:t>
                </a:r>
              </a:p>
              <a:p>
                <a:r>
                  <a:rPr lang="en-US" b="1" dirty="0">
                    <a:solidFill>
                      <a:schemeClr val="tx1"/>
                    </a:solidFill>
                  </a:rPr>
                  <a:t>Wildfire:</a:t>
                </a:r>
              </a:p>
              <a:p>
                <a:pPr lvl="1"/>
                <a:r>
                  <a:rPr lang="en-US" b="1" dirty="0" err="1"/>
                  <a:t>Aeronet</a:t>
                </a:r>
                <a:r>
                  <a:rPr lang="en-US" b="1" dirty="0"/>
                  <a:t>:</a:t>
                </a:r>
                <a:r>
                  <a:rPr lang="en-US" dirty="0"/>
                  <a:t> Aerosol optical depth at 500 nm</a:t>
                </a:r>
              </a:p>
              <a:p>
                <a:r>
                  <a:rPr lang="en-US" b="1" dirty="0">
                    <a:solidFill>
                      <a:schemeClr val="tx1"/>
                    </a:solidFill>
                  </a:rPr>
                  <a:t>Biology</a:t>
                </a:r>
              </a:p>
              <a:p>
                <a:pPr lvl="1"/>
                <a:r>
                  <a:rPr lang="en-US" b="1" dirty="0"/>
                  <a:t>IFCB:</a:t>
                </a:r>
                <a:r>
                  <a:rPr lang="en-US" dirty="0"/>
                  <a:t> phytoplankton community composition, biovolume</a:t>
                </a:r>
              </a:p>
              <a:p>
                <a:pPr lvl="1"/>
                <a:r>
                  <a:rPr lang="en-US" b="1" dirty="0" err="1">
                    <a:solidFill>
                      <a:schemeClr val="tx1"/>
                    </a:solidFill>
                  </a:rPr>
                  <a:t>CalHABMAP</a:t>
                </a:r>
                <a:r>
                  <a:rPr lang="en-US" b="1" dirty="0">
                    <a:solidFill>
                      <a:schemeClr val="tx1"/>
                    </a:solidFill>
                  </a:rPr>
                  <a:t>:</a:t>
                </a:r>
                <a:r>
                  <a:rPr lang="en-US" dirty="0">
                    <a:solidFill>
                      <a:schemeClr val="tx1"/>
                    </a:solidFill>
                  </a:rPr>
                  <a:t> </a:t>
                </a:r>
                <a:r>
                  <a:rPr lang="en-US" dirty="0"/>
                  <a:t>phytoplankton community composition</a:t>
                </a:r>
              </a:p>
              <a:p>
                <a:r>
                  <a:rPr lang="en-US" b="1" dirty="0">
                    <a:solidFill>
                      <a:schemeClr val="tx1"/>
                    </a:solidFill>
                  </a:rPr>
                  <a:t>Biogeochemistry</a:t>
                </a:r>
              </a:p>
              <a:p>
                <a:pPr lvl="1"/>
                <a:r>
                  <a:rPr lang="en-US" b="1" dirty="0"/>
                  <a:t>Sanat Cruz Wharf/Moss Landing Shore Station: </a:t>
                </a:r>
                <a:r>
                  <a:rPr lang="en-US" sz="1800" dirty="0">
                    <a:effectLst/>
                  </a:rPr>
                  <a:t>CO2, chlorophyll-a, conductivity, fluorescence, nitrate, dissolved oxygen,</a:t>
                </a:r>
                <a:br>
                  <a:rPr lang="en-US" sz="1800" dirty="0">
                    <a:effectLst/>
                  </a:rPr>
                </a:br>
                <a:r>
                  <a:rPr lang="en-US" sz="1800" dirty="0">
                    <a:effectLst/>
                  </a:rPr>
                  <a:t> oxygen saturation, pH, radiative flux: beam attenuation coefficient, salinity, temperature</a:t>
                </a:r>
                <a:br>
                  <a:rPr lang="en-US" sz="1800" dirty="0">
                    <a:effectLst/>
                  </a:rPr>
                </a:br>
                <a:r>
                  <a:rPr lang="en-US" sz="1800" dirty="0">
                    <a:effectLst/>
                  </a:rPr>
                  <a:t> transmissivity, water level</a:t>
                </a:r>
              </a:p>
              <a:p>
                <a:pPr lvl="1"/>
                <a:endParaRPr lang="en-US" sz="1800" dirty="0"/>
              </a:p>
              <a:p>
                <a:pPr lvl="1"/>
                <a:endParaRPr lang="en-US" dirty="0"/>
              </a:p>
              <a:p>
                <a:r>
                  <a:rPr lang="en-US" b="1" dirty="0">
                    <a:solidFill>
                      <a:schemeClr val="tx1"/>
                    </a:solidFill>
                  </a:rPr>
                  <a:t>Other Forcings:</a:t>
                </a:r>
              </a:p>
              <a:p>
                <a:pPr lvl="1"/>
                <a:r>
                  <a:rPr lang="en-US" dirty="0">
                    <a:solidFill>
                      <a:schemeClr val="tx1"/>
                    </a:solidFill>
                  </a:rPr>
                  <a:t>San Lorenzo Outflow</a:t>
                </a:r>
              </a:p>
              <a:p>
                <a:pPr lvl="1"/>
                <a:r>
                  <a:rPr lang="en-US" dirty="0">
                    <a:solidFill>
                      <a:schemeClr val="tx1"/>
                    </a:solidFill>
                  </a:rPr>
                  <a:t>Upwelling (BEUTI, CUTI, winds)</a:t>
                </a:r>
              </a:p>
              <a:p>
                <a:pPr lvl="1"/>
                <a:r>
                  <a:rPr lang="en-US" dirty="0">
                    <a:solidFill>
                      <a:schemeClr val="tx1"/>
                    </a:solidFill>
                  </a:rPr>
                  <a:t>Climate Indices (MEI, </a:t>
                </a:r>
                <a:r>
                  <a:rPr lang="en-US" dirty="0"/>
                  <a:t>marine heatwaves</a:t>
                </a:r>
                <a:r>
                  <a:rPr lang="en-US" dirty="0">
                    <a:solidFill>
                      <a:schemeClr val="tx1"/>
                    </a:solidFill>
                  </a:rPr>
                  <a:t>)</a:t>
                </a:r>
                <a:endParaRPr lang="en-US" sz="3200" dirty="0">
                  <a:latin typeface="+mn-lt"/>
                </a:endParaRPr>
              </a:p>
              <a:p>
                <a:pPr eaLnBrk="1" hangingPunct="1"/>
                <a:endParaRPr lang="en-US" sz="3200" dirty="0">
                  <a:latin typeface="+mn-lt"/>
                </a:endParaRPr>
              </a:p>
              <a:p>
                <a:pPr eaLnBrk="1" hangingPunct="1"/>
                <a:endParaRPr lang="en-US" sz="3200" dirty="0">
                  <a:latin typeface="+mn-lt"/>
                </a:endParaRPr>
              </a:p>
              <a:p>
                <a:pPr eaLnBrk="1" hangingPunct="1"/>
                <a:endParaRPr lang="en-US" sz="3200" dirty="0">
                  <a:latin typeface="+mn-lt"/>
                </a:endParaRPr>
              </a:p>
              <a:p>
                <a:pPr eaLnBrk="1" hangingPunct="1"/>
                <a:endParaRPr lang="en-US" sz="3200" dirty="0">
                  <a:latin typeface="+mn-lt"/>
                </a:endParaRPr>
              </a:p>
              <a:p>
                <a:pPr eaLnBrk="1" hangingPunct="1"/>
                <a:endParaRPr lang="en-US" sz="3200" dirty="0">
                  <a:latin typeface="+mn-lt"/>
                </a:endParaRPr>
              </a:p>
              <a:p>
                <a:pPr eaLnBrk="1" hangingPunct="1"/>
                <a:endParaRPr lang="en-US" sz="3200" dirty="0">
                  <a:latin typeface="+mn-lt"/>
                </a:endParaRPr>
              </a:p>
            </p:txBody>
          </p:sp>
        </p:grpSp>
        <p:grpSp>
          <p:nvGrpSpPr>
            <p:cNvPr id="22" name="Group 21">
              <a:extLst>
                <a:ext uri="{FF2B5EF4-FFF2-40B4-BE49-F238E27FC236}">
                  <a16:creationId xmlns:a16="http://schemas.microsoft.com/office/drawing/2014/main" id="{A94A0C48-0E79-8CFC-D0E2-7D051865B90C}"/>
                </a:ext>
              </a:extLst>
            </p:cNvPr>
            <p:cNvGrpSpPr/>
            <p:nvPr/>
          </p:nvGrpSpPr>
          <p:grpSpPr>
            <a:xfrm>
              <a:off x="7403296" y="16177294"/>
              <a:ext cx="6769904" cy="5490565"/>
              <a:chOff x="8660654" y="7730601"/>
              <a:chExt cx="5518288" cy="4342429"/>
            </a:xfrm>
          </p:grpSpPr>
          <p:pic>
            <p:nvPicPr>
              <p:cNvPr id="19" name="Picture 18">
                <a:extLst>
                  <a:ext uri="{FF2B5EF4-FFF2-40B4-BE49-F238E27FC236}">
                    <a16:creationId xmlns:a16="http://schemas.microsoft.com/office/drawing/2014/main" id="{18942A03-1BD1-0A27-FEE8-29CB9B37F0F6}"/>
                  </a:ext>
                </a:extLst>
              </p:cNvPr>
              <p:cNvPicPr>
                <a:picLocks noChangeAspect="1"/>
              </p:cNvPicPr>
              <p:nvPr/>
            </p:nvPicPr>
            <p:blipFill>
              <a:blip r:embed="rId8"/>
              <a:stretch>
                <a:fillRect/>
              </a:stretch>
            </p:blipFill>
            <p:spPr>
              <a:xfrm>
                <a:off x="8660654" y="7730601"/>
                <a:ext cx="5518288" cy="4342429"/>
              </a:xfrm>
              <a:prstGeom prst="rect">
                <a:avLst/>
              </a:prstGeom>
            </p:spPr>
          </p:pic>
          <p:pic>
            <p:nvPicPr>
              <p:cNvPr id="20" name="Graphic 19" descr="Satellite dish with solid fill">
                <a:extLst>
                  <a:ext uri="{FF2B5EF4-FFF2-40B4-BE49-F238E27FC236}">
                    <a16:creationId xmlns:a16="http://schemas.microsoft.com/office/drawing/2014/main" id="{B11BFD45-9B45-18E4-E350-BF8DA60E48DB}"/>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924445" y="10112681"/>
                <a:ext cx="409753" cy="409753"/>
              </a:xfrm>
              <a:prstGeom prst="rect">
                <a:avLst/>
              </a:prstGeom>
            </p:spPr>
          </p:pic>
          <p:pic>
            <p:nvPicPr>
              <p:cNvPr id="21" name="Graphic 20" descr="Thermometer with solid fill">
                <a:extLst>
                  <a:ext uri="{FF2B5EF4-FFF2-40B4-BE49-F238E27FC236}">
                    <a16:creationId xmlns:a16="http://schemas.microsoft.com/office/drawing/2014/main" id="{D99FA86B-D5B1-E76A-0995-F06A553ACFB6}"/>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1552970" y="8969985"/>
                <a:ext cx="496313" cy="496313"/>
              </a:xfrm>
              <a:prstGeom prst="rect">
                <a:avLst/>
              </a:prstGeom>
            </p:spPr>
          </p:pic>
        </p:grpSp>
        <p:pic>
          <p:nvPicPr>
            <p:cNvPr id="1026" name="Picture 2" descr="Imaging FlowCytobot - McLane Labs">
              <a:extLst>
                <a:ext uri="{FF2B5EF4-FFF2-40B4-BE49-F238E27FC236}">
                  <a16:creationId xmlns:a16="http://schemas.microsoft.com/office/drawing/2014/main" id="{7C723670-E877-12C6-20A4-F77DF20EFC60}"/>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7524589" y="21916779"/>
              <a:ext cx="2446166" cy="3663812"/>
            </a:xfrm>
            <a:prstGeom prst="rect">
              <a:avLst/>
            </a:prstGeom>
            <a:noFill/>
            <a:extLst>
              <a:ext uri="{909E8E84-426E-40DD-AFC4-6F175D3DCCD1}">
                <a14:hiddenFill xmlns:a14="http://schemas.microsoft.com/office/drawing/2010/main">
                  <a:solidFill>
                    <a:srgbClr val="FFFFFF"/>
                  </a:solidFill>
                </a14:hiddenFill>
              </a:ext>
            </a:extLst>
          </p:spPr>
        </p:pic>
        <p:pic>
          <p:nvPicPr>
            <p:cNvPr id="1037" name="Picture 1036">
              <a:extLst>
                <a:ext uri="{FF2B5EF4-FFF2-40B4-BE49-F238E27FC236}">
                  <a16:creationId xmlns:a16="http://schemas.microsoft.com/office/drawing/2014/main" id="{FBB931FE-7C7E-502C-12BC-D015F8A6559D}"/>
                </a:ext>
              </a:extLst>
            </p:cNvPr>
            <p:cNvPicPr>
              <a:picLocks noChangeAspect="1"/>
            </p:cNvPicPr>
            <p:nvPr/>
          </p:nvPicPr>
          <p:blipFill>
            <a:blip r:embed="rId14"/>
            <a:stretch>
              <a:fillRect/>
            </a:stretch>
          </p:blipFill>
          <p:spPr>
            <a:xfrm>
              <a:off x="10097030" y="21914814"/>
              <a:ext cx="4830390" cy="3607140"/>
            </a:xfrm>
            <a:prstGeom prst="rect">
              <a:avLst/>
            </a:prstGeom>
          </p:spPr>
        </p:pic>
      </p:grpSp>
      <p:grpSp>
        <p:nvGrpSpPr>
          <p:cNvPr id="1047" name="Group 1046">
            <a:extLst>
              <a:ext uri="{FF2B5EF4-FFF2-40B4-BE49-F238E27FC236}">
                <a16:creationId xmlns:a16="http://schemas.microsoft.com/office/drawing/2014/main" id="{D93D1621-6A66-7A6B-727F-5B4AF2E86143}"/>
              </a:ext>
            </a:extLst>
          </p:cNvPr>
          <p:cNvGrpSpPr/>
          <p:nvPr/>
        </p:nvGrpSpPr>
        <p:grpSpPr>
          <a:xfrm>
            <a:off x="24704839" y="14521851"/>
            <a:ext cx="4899278" cy="8371072"/>
            <a:chOff x="24025246" y="12303750"/>
            <a:chExt cx="5888003" cy="8847783"/>
          </a:xfrm>
        </p:grpSpPr>
        <p:grpSp>
          <p:nvGrpSpPr>
            <p:cNvPr id="61" name="Group 60">
              <a:extLst>
                <a:ext uri="{FF2B5EF4-FFF2-40B4-BE49-F238E27FC236}">
                  <a16:creationId xmlns:a16="http://schemas.microsoft.com/office/drawing/2014/main" id="{0419CA08-B836-7325-1978-C9A32EAE3AD0}"/>
                </a:ext>
              </a:extLst>
            </p:cNvPr>
            <p:cNvGrpSpPr/>
            <p:nvPr/>
          </p:nvGrpSpPr>
          <p:grpSpPr>
            <a:xfrm>
              <a:off x="24025246" y="12303750"/>
              <a:ext cx="5785958" cy="5537280"/>
              <a:chOff x="14020800" y="20538665"/>
              <a:chExt cx="7516312" cy="6869889"/>
            </a:xfrm>
          </p:grpSpPr>
          <p:pic>
            <p:nvPicPr>
              <p:cNvPr id="43" name="Picture 42" descr="A diagram of different colored lines&#10;&#10;Description automatically generated with medium confidence">
                <a:extLst>
                  <a:ext uri="{FF2B5EF4-FFF2-40B4-BE49-F238E27FC236}">
                    <a16:creationId xmlns:a16="http://schemas.microsoft.com/office/drawing/2014/main" id="{3B625928-AEB1-D78E-5C74-16F5FA051838}"/>
                  </a:ext>
                </a:extLst>
              </p:cNvPr>
              <p:cNvPicPr>
                <a:picLocks noChangeAspect="1"/>
              </p:cNvPicPr>
              <p:nvPr/>
            </p:nvPicPr>
            <p:blipFill rotWithShape="1">
              <a:blip r:embed="rId15">
                <a:extLst>
                  <a:ext uri="{28A0092B-C50C-407E-A947-70E740481C1C}">
                    <a14:useLocalDpi xmlns:a14="http://schemas.microsoft.com/office/drawing/2010/main" val="0"/>
                  </a:ext>
                </a:extLst>
              </a:blip>
              <a:srcRect t="7507" r="49375"/>
              <a:stretch/>
            </p:blipFill>
            <p:spPr>
              <a:xfrm>
                <a:off x="14020800" y="20538665"/>
                <a:ext cx="7516312" cy="6869889"/>
              </a:xfrm>
              <a:prstGeom prst="rect">
                <a:avLst/>
              </a:prstGeom>
            </p:spPr>
          </p:pic>
          <p:pic>
            <p:nvPicPr>
              <p:cNvPr id="46" name="Picture 2">
                <a:extLst>
                  <a:ext uri="{FF2B5EF4-FFF2-40B4-BE49-F238E27FC236}">
                    <a16:creationId xmlns:a16="http://schemas.microsoft.com/office/drawing/2014/main" id="{599E13E7-C8A8-FCDB-2BFA-3AA88B2667FF}"/>
                  </a:ext>
                </a:extLst>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19859442" y="21028687"/>
                <a:ext cx="671394" cy="680720"/>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4" descr="hemiaulus">
                <a:extLst>
                  <a:ext uri="{FF2B5EF4-FFF2-40B4-BE49-F238E27FC236}">
                    <a16:creationId xmlns:a16="http://schemas.microsoft.com/office/drawing/2014/main" id="{C0B11361-43CB-FDED-4D17-7E88F5637636}"/>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20129061" y="23241000"/>
                <a:ext cx="565785" cy="597469"/>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6" descr="skeletonema">
                <a:extLst>
                  <a:ext uri="{FF2B5EF4-FFF2-40B4-BE49-F238E27FC236}">
                    <a16:creationId xmlns:a16="http://schemas.microsoft.com/office/drawing/2014/main" id="{9F07186E-D448-FCDC-E966-FB2747D5728F}"/>
                  </a:ext>
                </a:extLst>
              </p:cNvPr>
              <p:cNvPicPr>
                <a:picLocks noChangeAspect="1" noChangeArrowheads="1"/>
              </p:cNvPicPr>
              <p:nvPr/>
            </p:nvPicPr>
            <p:blipFill>
              <a:blip r:embed="rId18" cstate="print">
                <a:extLst>
                  <a:ext uri="{28A0092B-C50C-407E-A947-70E740481C1C}">
                    <a14:useLocalDpi xmlns:a14="http://schemas.microsoft.com/office/drawing/2010/main" val="0"/>
                  </a:ext>
                </a:extLst>
              </a:blip>
              <a:srcRect/>
              <a:stretch>
                <a:fillRect/>
              </a:stretch>
            </p:blipFill>
            <p:spPr bwMode="auto">
              <a:xfrm>
                <a:off x="20147386" y="25445056"/>
                <a:ext cx="529133" cy="516884"/>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46" name="Group 1045">
              <a:extLst>
                <a:ext uri="{FF2B5EF4-FFF2-40B4-BE49-F238E27FC236}">
                  <a16:creationId xmlns:a16="http://schemas.microsoft.com/office/drawing/2014/main" id="{3A8CA6B2-3384-3F37-2975-F5E4C849150D}"/>
                </a:ext>
              </a:extLst>
            </p:cNvPr>
            <p:cNvGrpSpPr/>
            <p:nvPr/>
          </p:nvGrpSpPr>
          <p:grpSpPr>
            <a:xfrm>
              <a:off x="24802702" y="17504085"/>
              <a:ext cx="5110547" cy="3647448"/>
              <a:chOff x="24912541" y="20084709"/>
              <a:chExt cx="5110547" cy="3647448"/>
            </a:xfrm>
          </p:grpSpPr>
          <p:pic>
            <p:nvPicPr>
              <p:cNvPr id="1039" name="Picture 1038" descr="A diagram of different colored lines&#10;&#10;Description automatically generated with medium confidence">
                <a:extLst>
                  <a:ext uri="{FF2B5EF4-FFF2-40B4-BE49-F238E27FC236}">
                    <a16:creationId xmlns:a16="http://schemas.microsoft.com/office/drawing/2014/main" id="{FE0A3749-5E49-11D1-EAD1-CAAD3908EBD6}"/>
                  </a:ext>
                </a:extLst>
              </p:cNvPr>
              <p:cNvPicPr>
                <a:picLocks noChangeAspect="1"/>
              </p:cNvPicPr>
              <p:nvPr/>
            </p:nvPicPr>
            <p:blipFill rotWithShape="1">
              <a:blip r:embed="rId15">
                <a:extLst>
                  <a:ext uri="{28A0092B-C50C-407E-A947-70E740481C1C}">
                    <a14:useLocalDpi xmlns:a14="http://schemas.microsoft.com/office/drawing/2010/main" val="0"/>
                  </a:ext>
                </a:extLst>
              </a:blip>
              <a:srcRect l="50490" t="7046" r="4795" b="32028"/>
              <a:stretch/>
            </p:blipFill>
            <p:spPr>
              <a:xfrm>
                <a:off x="24912541" y="20084709"/>
                <a:ext cx="5110547" cy="3647448"/>
              </a:xfrm>
              <a:prstGeom prst="rect">
                <a:avLst/>
              </a:prstGeom>
            </p:spPr>
          </p:pic>
          <p:pic>
            <p:nvPicPr>
              <p:cNvPr id="1043" name="Picture 8" descr="leptocylindrus">
                <a:extLst>
                  <a:ext uri="{FF2B5EF4-FFF2-40B4-BE49-F238E27FC236}">
                    <a16:creationId xmlns:a16="http://schemas.microsoft.com/office/drawing/2014/main" id="{3FCC325B-6C36-2837-93B7-1F323D0509B5}"/>
                  </a:ext>
                </a:extLst>
              </p:cNvPr>
              <p:cNvPicPr>
                <a:picLocks noChangeAspect="1" noChangeArrowheads="1"/>
              </p:cNvPicPr>
              <p:nvPr/>
            </p:nvPicPr>
            <p:blipFill>
              <a:blip r:embed="rId19" cstate="print">
                <a:extLst>
                  <a:ext uri="{28A0092B-C50C-407E-A947-70E740481C1C}">
                    <a14:useLocalDpi xmlns:a14="http://schemas.microsoft.com/office/drawing/2010/main" val="0"/>
                  </a:ext>
                </a:extLst>
              </a:blip>
              <a:srcRect/>
              <a:stretch>
                <a:fillRect/>
              </a:stretch>
            </p:blipFill>
            <p:spPr bwMode="auto">
              <a:xfrm>
                <a:off x="28813706" y="22287867"/>
                <a:ext cx="337368" cy="443197"/>
              </a:xfrm>
              <a:prstGeom prst="rect">
                <a:avLst/>
              </a:prstGeom>
              <a:noFill/>
              <a:extLst>
                <a:ext uri="{909E8E84-426E-40DD-AFC4-6F175D3DCCD1}">
                  <a14:hiddenFill xmlns:a14="http://schemas.microsoft.com/office/drawing/2010/main">
                    <a:solidFill>
                      <a:srgbClr val="FFFFFF"/>
                    </a:solidFill>
                  </a14:hiddenFill>
                </a:ext>
              </a:extLst>
            </p:spPr>
          </p:pic>
          <p:pic>
            <p:nvPicPr>
              <p:cNvPr id="1045" name="Picture 1044" descr="A close up of a cell&#10;&#10;Description automatically generated">
                <a:extLst>
                  <a:ext uri="{FF2B5EF4-FFF2-40B4-BE49-F238E27FC236}">
                    <a16:creationId xmlns:a16="http://schemas.microsoft.com/office/drawing/2014/main" id="{DDEA1B9E-4497-2744-02A7-95BE20BB82AA}"/>
                  </a:ext>
                </a:extLst>
              </p:cNvPr>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28640898" y="20587572"/>
                <a:ext cx="337368" cy="397720"/>
              </a:xfrm>
              <a:prstGeom prst="rect">
                <a:avLst/>
              </a:prstGeom>
            </p:spPr>
          </p:pic>
        </p:grpSp>
      </p:grpSp>
      <p:pic>
        <p:nvPicPr>
          <p:cNvPr id="58" name="Picture 57" descr="A screen shot of a graph&#10;&#10;Description automatically generated">
            <a:extLst>
              <a:ext uri="{FF2B5EF4-FFF2-40B4-BE49-F238E27FC236}">
                <a16:creationId xmlns:a16="http://schemas.microsoft.com/office/drawing/2014/main" id="{CC3808B4-BDF0-6ED3-BD33-7A9B272AF17B}"/>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14898996" y="19703729"/>
            <a:ext cx="9718534" cy="8101370"/>
          </a:xfrm>
          <a:prstGeom prst="rect">
            <a:avLst/>
          </a:prstGeom>
        </p:spPr>
      </p:pic>
      <p:pic>
        <p:nvPicPr>
          <p:cNvPr id="1049" name="Picture 1048" descr="A graph showing a graph of a graph&#10;&#10;Description automatically generated with medium confidence">
            <a:extLst>
              <a:ext uri="{FF2B5EF4-FFF2-40B4-BE49-F238E27FC236}">
                <a16:creationId xmlns:a16="http://schemas.microsoft.com/office/drawing/2014/main" id="{45944818-E372-FBBB-45A9-303F96A50824}"/>
              </a:ext>
            </a:extLst>
          </p:cNvPr>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30708600" y="9201310"/>
            <a:ext cx="8246191" cy="4713186"/>
          </a:xfrm>
          <a:prstGeom prst="rect">
            <a:avLst/>
          </a:prstGeom>
        </p:spPr>
      </p:pic>
      <p:sp>
        <p:nvSpPr>
          <p:cNvPr id="1053" name="Text Box 189">
            <a:extLst>
              <a:ext uri="{FF2B5EF4-FFF2-40B4-BE49-F238E27FC236}">
                <a16:creationId xmlns:a16="http://schemas.microsoft.com/office/drawing/2014/main" id="{7E2064DA-C30E-252F-2E31-B23A950274FC}"/>
              </a:ext>
            </a:extLst>
          </p:cNvPr>
          <p:cNvSpPr txBox="1">
            <a:spLocks noChangeArrowheads="1"/>
          </p:cNvSpPr>
          <p:nvPr/>
        </p:nvSpPr>
        <p:spPr bwMode="auto">
          <a:xfrm>
            <a:off x="15205109" y="5729413"/>
            <a:ext cx="4635384" cy="7663590"/>
          </a:xfrm>
          <a:prstGeom prst="rect">
            <a:avLst/>
          </a:prstGeom>
          <a:solidFill>
            <a:schemeClr val="bg1"/>
          </a:solidFill>
          <a:ln w="12700">
            <a:solidFill>
              <a:schemeClr val="accent1">
                <a:lumMod val="75000"/>
              </a:schemeClr>
            </a:solidFill>
          </a:ln>
          <a:effectLst/>
        </p:spPr>
        <p:txBody>
          <a:bodyPr wrap="square" lIns="137137" tIns="137137" rIns="137137" bIns="137137">
            <a:spAutoFit/>
          </a:bodyPr>
          <a:lstStyle>
            <a:lvl1pPr eaLnBrk="0" hangingPunct="0">
              <a:defRPr sz="2200">
                <a:solidFill>
                  <a:schemeClr val="tx1"/>
                </a:solidFill>
                <a:latin typeface="Arial" charset="0"/>
              </a:defRPr>
            </a:lvl1pPr>
            <a:lvl2pPr marL="742950" indent="-285750" eaLnBrk="0" hangingPunct="0">
              <a:defRPr sz="2200">
                <a:solidFill>
                  <a:schemeClr val="tx1"/>
                </a:solidFill>
                <a:latin typeface="Arial" charset="0"/>
              </a:defRPr>
            </a:lvl2pPr>
            <a:lvl3pPr marL="1143000" indent="-228600" eaLnBrk="0" hangingPunct="0">
              <a:defRPr sz="2200">
                <a:solidFill>
                  <a:schemeClr val="tx1"/>
                </a:solidFill>
                <a:latin typeface="Arial" charset="0"/>
              </a:defRPr>
            </a:lvl3pPr>
            <a:lvl4pPr marL="1600200" indent="-228600" eaLnBrk="0" hangingPunct="0">
              <a:defRPr sz="2200">
                <a:solidFill>
                  <a:schemeClr val="tx1"/>
                </a:solidFill>
                <a:latin typeface="Arial" charset="0"/>
              </a:defRPr>
            </a:lvl4pPr>
            <a:lvl5pPr marL="2057400" indent="-228600" eaLnBrk="0" hangingPunct="0">
              <a:defRPr sz="2200">
                <a:solidFill>
                  <a:schemeClr val="tx1"/>
                </a:solidFill>
                <a:latin typeface="Arial" charset="0"/>
              </a:defRPr>
            </a:lvl5pPr>
            <a:lvl6pPr marL="2514600" indent="-228600" eaLnBrk="0" fontAlgn="base" hangingPunct="0">
              <a:spcBef>
                <a:spcPct val="0"/>
              </a:spcBef>
              <a:spcAft>
                <a:spcPct val="0"/>
              </a:spcAft>
              <a:defRPr sz="2200">
                <a:solidFill>
                  <a:schemeClr val="tx1"/>
                </a:solidFill>
                <a:latin typeface="Arial" charset="0"/>
              </a:defRPr>
            </a:lvl6pPr>
            <a:lvl7pPr marL="2971800" indent="-228600" eaLnBrk="0" fontAlgn="base" hangingPunct="0">
              <a:spcBef>
                <a:spcPct val="0"/>
              </a:spcBef>
              <a:spcAft>
                <a:spcPct val="0"/>
              </a:spcAft>
              <a:defRPr sz="2200">
                <a:solidFill>
                  <a:schemeClr val="tx1"/>
                </a:solidFill>
                <a:latin typeface="Arial" charset="0"/>
              </a:defRPr>
            </a:lvl7pPr>
            <a:lvl8pPr marL="3429000" indent="-228600" eaLnBrk="0" fontAlgn="base" hangingPunct="0">
              <a:spcBef>
                <a:spcPct val="0"/>
              </a:spcBef>
              <a:spcAft>
                <a:spcPct val="0"/>
              </a:spcAft>
              <a:defRPr sz="2200">
                <a:solidFill>
                  <a:schemeClr val="tx1"/>
                </a:solidFill>
                <a:latin typeface="Arial" charset="0"/>
              </a:defRPr>
            </a:lvl8pPr>
            <a:lvl9pPr marL="3886200" indent="-228600" eaLnBrk="0" fontAlgn="base" hangingPunct="0">
              <a:spcBef>
                <a:spcPct val="0"/>
              </a:spcBef>
              <a:spcAft>
                <a:spcPct val="0"/>
              </a:spcAft>
              <a:defRPr sz="2200">
                <a:solidFill>
                  <a:schemeClr val="tx1"/>
                </a:solidFill>
                <a:latin typeface="Arial" charset="0"/>
              </a:defRPr>
            </a:lvl9pPr>
          </a:lstStyle>
          <a:p>
            <a:pPr marL="342900" indent="-342900" eaLnBrk="1" hangingPunct="1">
              <a:buFont typeface="Arial" panose="020B0604020202020204" pitchFamily="34" charset="0"/>
              <a:buChar char="•"/>
            </a:pPr>
            <a:r>
              <a:rPr lang="en-US" sz="2000" dirty="0">
                <a:latin typeface="Calibri" pitchFamily="34" charset="0"/>
              </a:rPr>
              <a:t>Wildfires apparent through both ground-based </a:t>
            </a:r>
            <a:r>
              <a:rPr lang="en-US" sz="2000" dirty="0" err="1">
                <a:latin typeface="Calibri" pitchFamily="34" charset="0"/>
              </a:rPr>
              <a:t>aeronet</a:t>
            </a:r>
            <a:r>
              <a:rPr lang="en-US" sz="2000" dirty="0">
                <a:latin typeface="Calibri" pitchFamily="34" charset="0"/>
              </a:rPr>
              <a:t> measurements and satellite reanalysis</a:t>
            </a:r>
          </a:p>
          <a:p>
            <a:pPr marL="342900" indent="-342900" eaLnBrk="1" hangingPunct="1">
              <a:buFont typeface="Arial" panose="020B0604020202020204" pitchFamily="34" charset="0"/>
              <a:buChar char="•"/>
            </a:pPr>
            <a:r>
              <a:rPr lang="en-US" sz="2000" dirty="0">
                <a:latin typeface="Calibri" pitchFamily="34" charset="0"/>
              </a:rPr>
              <a:t>Satellite Chlorophyll-a climatology reveals a positive anomaly in the Monterey Bay region. This signal cross-correlates with the satellite black carbon, with the fire signal leading.</a:t>
            </a:r>
          </a:p>
          <a:p>
            <a:pPr marL="342900" indent="-342900" eaLnBrk="1" hangingPunct="1">
              <a:buFont typeface="Arial" panose="020B0604020202020204" pitchFamily="34" charset="0"/>
              <a:buChar char="•"/>
            </a:pPr>
            <a:r>
              <a:rPr lang="en-US" sz="2000" dirty="0">
                <a:latin typeface="Calibri" pitchFamily="34" charset="0"/>
              </a:rPr>
              <a:t>IFCB Analysis reveals 5 taxa with significant cross correlation with AOD (C &gt;0.35), where AOD leads</a:t>
            </a:r>
          </a:p>
          <a:p>
            <a:pPr marL="342900" indent="-342900" eaLnBrk="1" hangingPunct="1">
              <a:buFont typeface="Arial" panose="020B0604020202020204" pitchFamily="34" charset="0"/>
              <a:buChar char="•"/>
            </a:pPr>
            <a:r>
              <a:rPr lang="en-US" sz="2000" dirty="0">
                <a:latin typeface="Calibri" pitchFamily="34" charset="0"/>
              </a:rPr>
              <a:t>PDFs reveal the taxa are positively shifted in abundance</a:t>
            </a:r>
          </a:p>
          <a:p>
            <a:pPr marL="342900" indent="-342900" eaLnBrk="1" hangingPunct="1">
              <a:buFont typeface="Arial" panose="020B0604020202020204" pitchFamily="34" charset="0"/>
              <a:buChar char="•"/>
            </a:pPr>
            <a:r>
              <a:rPr lang="en-US" sz="2000" dirty="0">
                <a:latin typeface="Calibri" pitchFamily="34" charset="0"/>
              </a:rPr>
              <a:t>Positive lag X-</a:t>
            </a:r>
            <a:r>
              <a:rPr lang="en-US" sz="2000" dirty="0" err="1">
                <a:latin typeface="Calibri" pitchFamily="34" charset="0"/>
              </a:rPr>
              <a:t>corr</a:t>
            </a:r>
            <a:r>
              <a:rPr lang="en-US" sz="2000" dirty="0">
                <a:latin typeface="Calibri" pitchFamily="34" charset="0"/>
              </a:rPr>
              <a:t> due to the 2 fire pulse, no response following the second fire event. </a:t>
            </a:r>
          </a:p>
          <a:p>
            <a:pPr marL="342900" indent="-342900" eaLnBrk="1" hangingPunct="1">
              <a:buFont typeface="Arial" panose="020B0604020202020204" pitchFamily="34" charset="0"/>
              <a:buChar char="•"/>
            </a:pPr>
            <a:r>
              <a:rPr lang="en-US" sz="2000" dirty="0">
                <a:latin typeface="Calibri" pitchFamily="34" charset="0"/>
              </a:rPr>
              <a:t>Community composition calculated as the Bray Curtis pairwise difference at the max </a:t>
            </a:r>
            <a:r>
              <a:rPr lang="en-US" sz="2000" dirty="0" err="1">
                <a:latin typeface="Calibri" pitchFamily="34" charset="0"/>
              </a:rPr>
              <a:t>xcorr</a:t>
            </a:r>
            <a:r>
              <a:rPr lang="en-US" sz="2000" dirty="0">
                <a:latin typeface="Calibri" pitchFamily="34" charset="0"/>
              </a:rPr>
              <a:t> lag shows a strong positive anomaly during fire period</a:t>
            </a:r>
          </a:p>
          <a:p>
            <a:pPr marL="342900" indent="-342900" eaLnBrk="1" hangingPunct="1">
              <a:buFont typeface="Arial" panose="020B0604020202020204" pitchFamily="34" charset="0"/>
              <a:buChar char="•"/>
            </a:pPr>
            <a:r>
              <a:rPr lang="en-US" sz="2000" dirty="0">
                <a:latin typeface="Calibri" pitchFamily="34" charset="0"/>
              </a:rPr>
              <a:t>No apparent anomalies in other forcings.</a:t>
            </a:r>
          </a:p>
          <a:p>
            <a:pPr marL="342900" indent="-342900" eaLnBrk="1" hangingPunct="1">
              <a:buFont typeface="Arial" panose="020B0604020202020204" pitchFamily="34" charset="0"/>
              <a:buChar char="•"/>
            </a:pPr>
            <a:endParaRPr lang="en-US" sz="2000" dirty="0">
              <a:latin typeface="Calibri" pitchFamily="34" charset="0"/>
            </a:endParaRPr>
          </a:p>
          <a:p>
            <a:pPr marL="342900" indent="-342900" eaLnBrk="1" hangingPunct="1">
              <a:buFont typeface="Arial" panose="020B0604020202020204" pitchFamily="34" charset="0"/>
              <a:buChar char="•"/>
            </a:pPr>
            <a:endParaRPr lang="en-US" sz="2000" dirty="0">
              <a:latin typeface="Calibri" pitchFamily="34" charset="0"/>
            </a:endParaRPr>
          </a:p>
        </p:txBody>
      </p:sp>
    </p:spTree>
    <p:extLst>
      <p:ext uri="{BB962C8B-B14F-4D97-AF65-F5344CB8AC3E}">
        <p14:creationId xmlns:p14="http://schemas.microsoft.com/office/powerpoint/2010/main" val="22512518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8699</TotalTime>
  <Words>525</Words>
  <Application>Microsoft Office PowerPoint</Application>
  <PresentationFormat>Custom</PresentationFormat>
  <Paragraphs>66</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Avenir Next LT Pro regular</vt:lpstr>
      <vt:lpstr>Calibri</vt:lpstr>
      <vt:lpstr>Office Theme</vt:lpstr>
      <vt:lpstr>PowerPoint Presentation</vt:lpstr>
    </vt:vector>
  </TitlesOfParts>
  <Company>Genigraphics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Genigraphics Research Poster Template 36x48</dc:title>
  <dc:creator>Jay Larson</dc:creator>
  <dc:description>Quality poster printing
www.genigraphics.com
1-800-790-4001</dc:description>
  <cp:lastModifiedBy>Dante Capone</cp:lastModifiedBy>
  <cp:revision>105</cp:revision>
  <cp:lastPrinted>2017-11-03T00:56:36Z</cp:lastPrinted>
  <dcterms:created xsi:type="dcterms:W3CDTF">2013-02-10T21:14:48Z</dcterms:created>
  <dcterms:modified xsi:type="dcterms:W3CDTF">2024-05-06T17:56:22Z</dcterms:modified>
</cp:coreProperties>
</file>